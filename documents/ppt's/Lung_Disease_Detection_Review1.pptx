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7" r:id="rId4"/>
    <p:sldId id="258" r:id="rId5"/>
    <p:sldId id="259" r:id="rId6"/>
    <p:sldId id="260" r:id="rId7"/>
    <p:sldId id="271" r:id="rId8"/>
    <p:sldId id="272" r:id="rId9"/>
    <p:sldId id="276" r:id="rId10"/>
    <p:sldId id="261" r:id="rId11"/>
    <p:sldId id="273" r:id="rId12"/>
    <p:sldId id="274" r:id="rId13"/>
    <p:sldId id="262" r:id="rId14"/>
    <p:sldId id="263" r:id="rId15"/>
    <p:sldId id="265" r:id="rId16"/>
    <p:sldId id="266" r:id="rId17"/>
    <p:sldId id="267" r:id="rId18"/>
    <p:sldId id="269" r:id="rId19"/>
    <p:sldId id="275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8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1" descr="KLE Technological Univers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28016"/>
            <a:ext cx="1874520" cy="58521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Department of Computer Science and Engineering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Senior Design Project — Review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Code: 20ECSW401     VII Sem     Year: 2026-27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3054096"/>
          <a:ext cx="3931920" cy="1005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Sl.no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Sharan Pachapuri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01FE23BCS027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Sampad Gaonkar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01FE23BCS024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Rohit Bendigeri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01FE23BCS140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Vijet Nayak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01FE22BCS324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18288" marB="18288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Project Title: </a:t>
            </a:r>
            <a:r>
              <a:rPr lang="en-US" sz="1600" dirty="0">
                <a:solidFill>
                  <a:srgbClr val="3E1C9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AI-Powered Lung Disease Detection 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Deep-learning classification of chest X-rays and lung CT scans, with explainable 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Under the guidance of </a:t>
            </a:r>
            <a:r>
              <a:rPr lang="en-US" sz="12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Indira Bidari, Assistant Professor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548640" y="2687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Details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Formulation &amp; Scope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&amp; Proposed Solution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Sustainable Development Goal Mapping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Data Preparation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Integrity &amp; Leakage Audit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Analysis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Principles &amp; Justification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Assumptions &amp; Constraints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&amp; Technologies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&amp; Explanation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Applicability in Societal Context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&amp; Limitations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Plan &amp; Timeline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68680"/>
            <a:ext cx="8138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burden: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 accounts for 25% of the world's tuberculosis cases — an estimated 2.7 million people in 2024, the highest of any country (WHO Global TB Report 2025) [11].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 detection: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80–85% of lung cancer patients in India present when the disease is already incurable, and are diagnosed roughly a decade younger than in the West [12].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Diagnostic capacity: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Around 20,000 radiologists serve 1.4 billion people — roughly one per 100,000 — and most practise in Tier-1 metros, leaving Tier-2, Tier-3 and rural districts under-served [13].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TB–malignancy confusion: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Granulomatous sequelae of prior TB can produce false positives on lung-cancer CT — a standard argument against screening in India, though [12] finds the effect may be smaller than assumed.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explainability matters: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Published chest X-ray models report 98%+ accuracy but return only a label. An unexplained prediction cannot be audited by a clinician, which remains the main barrier to adoption.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motivation: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screening support that is explainable, runs on ordinary CPU hardware, and targets exactly the settings where radiologist access is thinnest.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Literature Survey 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795009"/>
              </p:ext>
            </p:extLst>
          </p:nvPr>
        </p:nvGraphicFramePr>
        <p:xfrm>
          <a:off x="292608" y="777238"/>
          <a:ext cx="8421625" cy="3138778"/>
        </p:xfrm>
        <a:graphic>
          <a:graphicData uri="http://schemas.openxmlformats.org/drawingml/2006/table">
            <a:tbl>
              <a:tblPr/>
              <a:tblGrid>
                <a:gridCol w="1688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1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Study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Technology Used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Strength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Rajpurkar et al. (CheXNet) [1]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2017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121-layer DenseNet on ChestX-ray14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Exceeded avg. radiologist F1 (0.435 vs 0.387)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Single-label focus; no deployed interface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Chowdhury et al., IEEE Access [2]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on COVID-19 Radiography DB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98.3% accuracy, COVID/Pneumonia/Normal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explainability output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Rahman et al., IEEE Access [3]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2020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+ segmentation + Grad-CAM (TB)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98.3% accuracy, TB localization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TB only, not multi-disease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Mirugwe et al., JMIRx Med [4]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VGG16/VGG19/ResNet/Inception-ResNet transfer learning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Transfer learning beats training from scratch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Binary (TB vs normal) only; 4,200 images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Benamara et al., NMAHIB [5]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Multi-level fine-tuned VGG16 on CT scans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99.54% accuracy (benign/malignant/normal)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CT only — different modality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92608" y="4069080"/>
            <a:ext cx="8558784" cy="868680"/>
          </a:xfrm>
          <a:prstGeom prst="roundRect">
            <a:avLst>
              <a:gd name="adj" fmla="val 5263"/>
            </a:avLst>
          </a:prstGeom>
          <a:solidFill>
            <a:srgbClr val="FCE5CD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29768" y="4142232"/>
            <a:ext cx="8284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Identified Gap:  </a:t>
            </a: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work targets a single disease/modality, offers little to no explanation for predictions, and rarely ships as a usable interface — this project addresses all three together across both X-ray (Normal, Pneumonia, Tuberculosis, COVID-19) and CT (Normal, Benign, Malignant).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Problem Formulation &amp; Scope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68680"/>
            <a:ext cx="81381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design, train and evaluate a dual-modality deep-learning system that classifies a chest X-ray into four diagnostic classes and a lung CT scan into three, produces a visual explanation and a plain-language report for every prediction, and returns a result in under one second on CPU-only hardware.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77393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system that accepts a chest X-ray or lung CT scan and classifies it — X-ray: Normal, Pneumonia, Tuberculosis, or COVID-19; CT: Normal, Benign, or Malignant.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239572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Source: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Kaggle datasets — COVID-19 Radiography Database, TB Chest Radiography Database, and the IQ-OTH/NCCD Lung Cancer (CT) Dataset.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301752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PyTorch CNN (transfer learning) + Grad-CAM explainability, FastAPI backend, React frontend, LLM-generated plain-language report.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371246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➢  </a:t>
            </a:r>
            <a:r>
              <a:rPr lang="en-US" sz="1150" i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Limitations: not a certified diagnostic tool; the CT dataset is comparatively small (1,036 usable images after audit) and class-imbalanced; performance depends on dataset diversity.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Objectives &amp; Proposed 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6868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end-to-end application that verifies scan type with a modality-gate model, classifies chest X-rays and lung CT scans using fine-tuned CNNs, explains each prediction with Grad-CAM heatmaps, and auto-generates a plain-language report using generative AI.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8138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Classify chest X-rays (Normal / Pneumonia / TB / COVID-19) and lung CT scans (Normal / Benign / Malignant) using transfer-learned CNNs on public datasets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Make every prediction explainable — Grad-CAM visual heatmaps plus an auto-generated plain-language report and follow-up chatbot (generative AI)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Build a full-stack, locally-demoable web application with authentication and scan history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Sustainable Development Goal Mapping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6868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Addressed: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3 — Good Health and Well-Being (UN Sustainable Development Goals).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49047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3.3: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 the epidemics of tuberculosis and other communicable diseases — the system screens directly for TB and COVID-19.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2112264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3.8: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 universal health coverage and access to quality essential health-care services — the system extends screening capability to areas with limited radiologist access.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273405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Contribution: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Faster, lower-cost triage and an explainable AI report help bridge the rural-urban diagnostic gap identified in the literature survey.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34290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➢  </a:t>
            </a:r>
            <a:r>
              <a:rPr lang="en-US" sz="1150" i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the system is designed as decision-support only. Its contribution to SDG 3 is improving access to early screening, not replacing clinical diagnosis.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Dataset &amp; Data Preparation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764472"/>
              </p:ext>
            </p:extLst>
          </p:nvPr>
        </p:nvGraphicFramePr>
        <p:xfrm>
          <a:off x="292608" y="777238"/>
          <a:ext cx="8421624" cy="3026131"/>
        </p:xfrm>
        <a:graphic>
          <a:graphicData uri="http://schemas.openxmlformats.org/drawingml/2006/table">
            <a:tbl>
              <a:tblPr/>
              <a:tblGrid>
                <a:gridCol w="1688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5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Source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 / Split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COVID-19 Radiography DB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X-ray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COVID, Normal, Viral Pneumonia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3,616 / 10,192 / 1,345 (raw)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Downloaded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TB Chest Radiography DB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X-ray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Normal, Tuberculosis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3,500 / 700 (raw)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Downloaded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IQ-OTH/NCCD Lung Cancer DB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CT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Normal, Benign, Malignant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~1,097 imgs, 110 patients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Downloaded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5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X-ray pipeline (merged, deduped)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X-ray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 classes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15,373 / 1,922 / 1,922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Verified (real run)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CT pipeline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CT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classes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829 / 104 / 103 (group-aware)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Verified (0 leaks)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92608" y="4069080"/>
            <a:ext cx="8558784" cy="868680"/>
          </a:xfrm>
          <a:prstGeom prst="roundRect">
            <a:avLst>
              <a:gd name="adj" fmla="val 5263"/>
            </a:avLst>
          </a:prstGeom>
          <a:solidFill>
            <a:srgbClr val="FCE5CD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29768" y="4142232"/>
            <a:ext cx="8284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Data-quality notes:  </a:t>
            </a: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SHA-256 content hashing removed 59 exact duplicates while merging the X-ray sets. The CT split is group-aware rather than per-image, and 61 Malignant images from a differently-acquired protocol were excluded, giving 1,036 usable CT images — both covered on the next slide. Inverse-frequency class weighting is implemented for both models; the CT set still has about 4.2 times more Malignant than Benign images.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Data Integrity &amp; Leakage Audit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82296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Leakage: found and fixed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92608" y="114300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first CT split assigned individual images at random; the CT model then reached 100% test accuracy — a warning sign, not a result</a:t>
            </a:r>
            <a:endParaRPr lang="en-US" sz="10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perceptual-hash + SSIM audit found 111 near-duplicate slice clusters; 47 of them (177 images) spanned splits, and 35 of 109 test images had a sibling in training</a:t>
            </a:r>
            <a:endParaRPr lang="en-US" sz="10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Patient IDs are not recoverable from the Kaggle export (flat per-class JPEGs), so clusters of adjacent slices serve as a patient proxy</a:t>
            </a:r>
            <a:endParaRPr lang="en-US" sz="10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split was rebuilt to assign each whole cluster to a single split, then re-audited: 0 cross-split leaks across all 111 clusters. Seeded and persisted to disk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09160" y="82296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Shortcut learning: found and fixed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114300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Grad-CAM-driven audit found a class-correlated subset of Malignant scans separable on acquisition artefacts rather than pathology</a:t>
            </a:r>
            <a:endParaRPr lang="en-US" sz="10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61 Malignant images came from a different acquisition protocol — non-square dimensions, no scanner table visible — separable without learning pathology</a:t>
            </a:r>
            <a:endParaRPr lang="en-US" sz="10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Those 61 were excluded, taking the CT set from 1,097 to 1,036 usable images</a:t>
            </a:r>
            <a:endParaRPr lang="en-US" sz="1000" dirty="0"/>
          </a:p>
          <a:p>
            <a:pPr marL="228600" indent="-2286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X-ray audit: source is 97% recoverable from 32×32 pixels within Normal alone (AUC 0.996). COVID-19 holds 0.902 accuracy with lung fields blanked vs 0.919 full — Pneumonia drops to 0.657. Grad-CAM: 0.756 attention outside the lungs vs 0.684 baseline, the only class above it. Flagged — border-occlusion augmentation planned</a:t>
            </a:r>
            <a:endParaRPr lang="en-US" sz="1000" dirty="0"/>
          </a:p>
        </p:txBody>
      </p:sp>
      <p:sp>
        <p:nvSpPr>
          <p:cNvPr id="20" name="Callout BG"/>
          <p:cNvSpPr/>
          <p:nvPr/>
        </p:nvSpPr>
        <p:spPr>
          <a:xfrm>
            <a:off x="292608" y="3520000"/>
            <a:ext cx="8558784" cy="868680"/>
          </a:xfrm>
          <a:prstGeom prst="roundRect">
            <a:avLst>
              <a:gd name="adj" fmla="val 5263"/>
            </a:avLst>
          </a:prstGeom>
          <a:solidFill>
            <a:srgbClr val="FCE5CD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21" name="Callout Text"/>
          <p:cNvSpPr/>
          <p:nvPr/>
        </p:nvSpPr>
        <p:spPr>
          <a:xfrm>
            <a:off x="429768" y="3593152"/>
            <a:ext cx="8284464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Takeaway:  </a:t>
            </a: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Reported accuracy will be lower than the 99%+ figures published on these datasets — that is the intended outcome. The earlier CT 100% was leakage, not performance. All three audits are scripted and seeded, and the resulting splits are persisted to disk rather than regenerated at train time.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Requirement Analysis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82296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92608" y="114300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FR-1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shall accept a chest X-ray or lung CT scan in JPEG or PNG format.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FR-2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shall verify the scan modality and reject a mismatched upload.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FR-3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shall classify chest X-rays into 4 classes (Normal / Pneumonia / Tuberculosis / COVID-19) and lung CT scans into 3 classes (Normal / Benign / Malignant).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FR-4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shall generate a Grad-CAM heatmap for each prediction.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FR-5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shall produce a plain-language report and answer follow-up questions through a chatbot.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FR-6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shall display the predicted class with its confidence score.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FR-7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shall authenticate users (JWT / Google OAuth) and store their scan history.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09160" y="82296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114300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NFR-1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— classification and Grad-CAM shall complete in under one second on CPU-only hardware; the Gen AI report is an asynchronous call outside this budget.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NFR-2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 — the interface shall be responsive and operable without prior training.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NFR-3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— the backend shall be modular so the model-serving layer can be replaced independently.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NFR-4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 — the system shall return identical results for repeated uploads of the same image.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NFR-5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Portability — the system shall run entirely on a local machine with no external deployment.</a:t>
            </a:r>
            <a:endParaRPr lang="en-US" sz="900" dirty="0"/>
          </a:p>
          <a:p>
            <a:pPr marL="457200" indent="-45720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NFR-6  </a:t>
            </a: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 — every result shall be accompanied by a visual explanation.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Design Principles &amp; Justification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82296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Architecture &amp; Model Choices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92608" y="114300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DenseNet121 backbone — better gradient flow and feature reuse than a comparable ResNet at fewer parameters; preferred over EfficientNet (heavier augmentation tuning) and ViT (needs far more data than 15k images) [6]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Modality-gate model (ResNet18) — a fast prior check verifies scan type before the diagnostic model runs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Catches mismatched uploads (e.g. a CT scan submitted as an X-ray) before they reach the diagnostic model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— async-capable Python framework for serving ML inference and LLM calls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frontend — a responsive single-page app for upload and results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 — lightweight store for auth and scan history, appropriate at this project's scale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09160" y="82296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Training, Explainability &amp; Stack Choices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114300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learning, fully fine-tuned — outperforms training from scratch on small medical datasets, per the literature survey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Grad-CAM for explainability — lightweight enough for real-time use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Produces heatmaps directly interpretable by a non-technical or clinical audience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Best-checkpoint selection on validation loss — guards against overfitting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Especially important given the CT classifier's smaller dataset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(Llama 3.3 70B) — fast-inference LLM for report generation and the chatbot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Assumptions &amp; Constraints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82296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Assumptions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92608" y="114300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Uploaded scans are correctly oriented and of reasonable image quality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Non-medical images and wrong-modality uploads (a CT sent as an X-ray, or vice versa) are detected and rejected by the modality gate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handles a single scan per request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or multi-scan diagnosis is out of scope for this phase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have basic digital literacy sufficient to operate a standard web interface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09160" y="822960"/>
            <a:ext cx="4142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09160" y="114300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on an ordinary laptop CPU, not a GPU — so each prediction must come back in under a second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intended or certified as a replacement for clinician diagnosis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deployment in this phase — runs and is demoed locally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CT classifier is constrained by a comparatively small, imbalanced dataset (1,036 usable images after the leakage and protocol audits)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Tools &amp; Technologies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68680"/>
            <a:ext cx="8138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&amp; ML: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Python, PyTorch, OpenCV, scikit-learn, Albumentations (augmentation)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Grad-CAM (pytorch_grad_cam)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Generative AI: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API — Llama 3.3 70B, for report generation and in-app chatbot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FastAPI, SQLite (auth &amp; scan history)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React, Vite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+ Google OAuth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on free GPU (Colab/Kaggle); CPU-friendly local inference; no cloud deployment in this phase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System Architecture</a:t>
            </a:r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KLE Technological Univers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101" name="Panel"/>
          <p:cNvSpPr/>
          <p:nvPr/>
        </p:nvSpPr>
        <p:spPr>
          <a:xfrm>
            <a:off x="1645920" y="838200"/>
            <a:ext cx="5486400" cy="1737360"/>
          </a:xfrm>
          <a:prstGeom prst="roundRect">
            <a:avLst>
              <a:gd name="adj" fmla="val 5000"/>
            </a:avLst>
          </a:prstGeom>
          <a:solidFill>
            <a:srgbClr val="FBF4F2"/>
          </a:solidFill>
          <a:ln w="9525">
            <a:solidFill>
              <a:srgbClr val="D8B5AB"/>
            </a:solidFill>
            <a:prstDash val="solid"/>
          </a:ln>
        </p:spPr>
      </p:sp>
      <p:sp>
        <p:nvSpPr>
          <p:cNvPr id="102" name="Label"/>
          <p:cNvSpPr/>
          <p:nvPr/>
        </p:nvSpPr>
        <p:spPr>
          <a:xfrm>
            <a:off x="1783080" y="9235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0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Backend Server — FastAPI</a:t>
            </a:r>
          </a:p>
        </p:txBody>
      </p:sp>
      <p:sp>
        <p:nvSpPr>
          <p:cNvPr id="103" name="Box Modality Gate"/>
          <p:cNvSpPr/>
          <p:nvPr/>
        </p:nvSpPr>
        <p:spPr>
          <a:xfrm>
            <a:off x="1783080" y="1280160"/>
            <a:ext cx="156057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B2D1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Modality Gate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ResNet18 — confirms scan type, rejects invalid uploads</a:t>
            </a:r>
          </a:p>
        </p:txBody>
      </p:sp>
      <p:sp>
        <p:nvSpPr>
          <p:cNvPr id="104" name="Box CNN + Grad-CAM"/>
          <p:cNvSpPr/>
          <p:nvPr/>
        </p:nvSpPr>
        <p:spPr>
          <a:xfrm>
            <a:off x="3608832" y="1280160"/>
            <a:ext cx="156057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B2D1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CNN + Grad-CAM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DenseNet121 — X-ray: 4 classes, CT: 3 classes, plus heatmap</a:t>
            </a:r>
          </a:p>
        </p:txBody>
      </p:sp>
      <p:sp>
        <p:nvSpPr>
          <p:cNvPr id="105" name="Box Gen AI Report"/>
          <p:cNvSpPr/>
          <p:nvPr/>
        </p:nvSpPr>
        <p:spPr>
          <a:xfrm>
            <a:off x="5434584" y="1280160"/>
            <a:ext cx="156057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7B2D1E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D1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Gen AI Report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Llama 3.3 70B — plain-language report + chatbot</a:t>
            </a:r>
          </a:p>
        </p:txBody>
      </p:sp>
      <p:sp>
        <p:nvSpPr>
          <p:cNvPr id="106" name="Box Client"/>
          <p:cNvSpPr/>
          <p:nvPr/>
        </p:nvSpPr>
        <p:spPr>
          <a:xfrm>
            <a:off x="274320" y="1417320"/>
            <a:ext cx="1188720" cy="822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Client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UI — uploads a scan, views the result</a:t>
            </a:r>
          </a:p>
        </p:txBody>
      </p:sp>
      <p:sp>
        <p:nvSpPr>
          <p:cNvPr id="107" name="Box Result"/>
          <p:cNvSpPr/>
          <p:nvPr/>
        </p:nvSpPr>
        <p:spPr>
          <a:xfrm>
            <a:off x="7315200" y="1417320"/>
            <a:ext cx="1554480" cy="82296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 w="9525">
            <a:solidFill>
              <a:srgbClr val="1F4E79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Diagnosis, confidence, heatmap, report</a:t>
            </a:r>
          </a:p>
        </p:txBody>
      </p:sp>
      <p:sp>
        <p:nvSpPr>
          <p:cNvPr id="108" name="Arrow"/>
          <p:cNvSpPr/>
          <p:nvPr/>
        </p:nvSpPr>
        <p:spPr>
          <a:xfrm>
            <a:off x="1463040" y="1828800"/>
            <a:ext cx="320040" cy="0"/>
          </a:xfrm>
          <a:prstGeom prst="line">
            <a:avLst/>
          </a:prstGeom>
          <a:noFill/>
          <a:ln w="15875">
            <a:solidFill>
              <a:srgbClr val="7B2D1E"/>
            </a:solidFill>
            <a:prstDash val="solid"/>
            <a:round/>
            <a:tailEnd type="triangle" w="med" len="med"/>
          </a:ln>
        </p:spPr>
      </p:sp>
      <p:sp>
        <p:nvSpPr>
          <p:cNvPr id="109" name="Arrow"/>
          <p:cNvSpPr/>
          <p:nvPr/>
        </p:nvSpPr>
        <p:spPr>
          <a:xfrm>
            <a:off x="3343656" y="1828800"/>
            <a:ext cx="265176" cy="0"/>
          </a:xfrm>
          <a:prstGeom prst="line">
            <a:avLst/>
          </a:prstGeom>
          <a:noFill/>
          <a:ln w="15875">
            <a:solidFill>
              <a:srgbClr val="7B2D1E"/>
            </a:solidFill>
            <a:prstDash val="solid"/>
            <a:round/>
            <a:tailEnd type="triangle" w="med" len="med"/>
          </a:ln>
        </p:spPr>
      </p:sp>
      <p:sp>
        <p:nvSpPr>
          <p:cNvPr id="110" name="Arrow"/>
          <p:cNvSpPr/>
          <p:nvPr/>
        </p:nvSpPr>
        <p:spPr>
          <a:xfrm>
            <a:off x="5169408" y="1828800"/>
            <a:ext cx="265176" cy="0"/>
          </a:xfrm>
          <a:prstGeom prst="line">
            <a:avLst/>
          </a:prstGeom>
          <a:noFill/>
          <a:ln w="15875">
            <a:solidFill>
              <a:srgbClr val="7B2D1E"/>
            </a:solidFill>
            <a:prstDash val="solid"/>
            <a:round/>
            <a:tailEnd type="triangle" w="med" len="med"/>
          </a:ln>
        </p:spPr>
      </p:sp>
      <p:sp>
        <p:nvSpPr>
          <p:cNvPr id="111" name="Arrow"/>
          <p:cNvSpPr/>
          <p:nvPr/>
        </p:nvSpPr>
        <p:spPr>
          <a:xfrm>
            <a:off x="6995160" y="1828800"/>
            <a:ext cx="320040" cy="0"/>
          </a:xfrm>
          <a:prstGeom prst="line">
            <a:avLst/>
          </a:prstGeom>
          <a:noFill/>
          <a:ln w="15875">
            <a:solidFill>
              <a:srgbClr val="7B2D1E"/>
            </a:solidFill>
            <a:prstDash val="solid"/>
            <a:round/>
            <a:tailEnd type="triangle" w="med" len="med"/>
          </a:ln>
        </p:spPr>
      </p:sp>
      <p:sp>
        <p:nvSpPr>
          <p:cNvPr id="112" name="Arrow"/>
          <p:cNvSpPr/>
          <p:nvPr/>
        </p:nvSpPr>
        <p:spPr>
          <a:xfrm>
            <a:off x="4389120" y="2575560"/>
            <a:ext cx="0" cy="167640"/>
          </a:xfrm>
          <a:prstGeom prst="line">
            <a:avLst/>
          </a:prstGeom>
          <a:noFill/>
          <a:ln w="15875">
            <a:solidFill>
              <a:srgbClr val="7B2D1E"/>
            </a:solidFill>
            <a:prstDash val="solid"/>
            <a:round/>
            <a:tailEnd type="triangle" w="med" len="med"/>
          </a:ln>
        </p:spPr>
      </p:sp>
      <p:sp>
        <p:nvSpPr>
          <p:cNvPr id="113" name="Box SQLite"/>
          <p:cNvSpPr/>
          <p:nvPr/>
        </p:nvSpPr>
        <p:spPr>
          <a:xfrm>
            <a:off x="3608832" y="2743200"/>
            <a:ext cx="1560576" cy="40233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SQLite</a:t>
            </a:r>
          </a:p>
          <a:p>
            <a:pPr marL="0" indent="0"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&amp; scan history</a:t>
            </a:r>
          </a:p>
        </p:txBody>
      </p:sp>
      <p:sp>
        <p:nvSpPr>
          <p:cNvPr id="114" name="Arrow"/>
          <p:cNvSpPr/>
          <p:nvPr/>
        </p:nvSpPr>
        <p:spPr>
          <a:xfrm>
            <a:off x="8092440" y="2240280"/>
            <a:ext cx="0" cy="1143000"/>
          </a:xfrm>
          <a:prstGeom prst="line">
            <a:avLst/>
          </a:prstGeom>
          <a:noFill/>
          <a:ln w="15875">
            <a:solidFill>
              <a:srgbClr val="7B2D1E"/>
            </a:solidFill>
            <a:prstDash val="solid"/>
            <a:round/>
          </a:ln>
        </p:spPr>
      </p:sp>
      <p:sp>
        <p:nvSpPr>
          <p:cNvPr id="115" name="Arrow"/>
          <p:cNvSpPr/>
          <p:nvPr/>
        </p:nvSpPr>
        <p:spPr>
          <a:xfrm>
            <a:off x="868680" y="3383280"/>
            <a:ext cx="7223760" cy="0"/>
          </a:xfrm>
          <a:prstGeom prst="line">
            <a:avLst/>
          </a:prstGeom>
          <a:noFill/>
          <a:ln w="15875">
            <a:solidFill>
              <a:srgbClr val="7B2D1E"/>
            </a:solidFill>
            <a:prstDash val="solid"/>
            <a:round/>
          </a:ln>
        </p:spPr>
      </p:sp>
      <p:sp>
        <p:nvSpPr>
          <p:cNvPr id="116" name="Arrow"/>
          <p:cNvSpPr/>
          <p:nvPr/>
        </p:nvSpPr>
        <p:spPr>
          <a:xfrm flipV="1">
            <a:off x="868680" y="2240280"/>
            <a:ext cx="0" cy="1143000"/>
          </a:xfrm>
          <a:prstGeom prst="line">
            <a:avLst/>
          </a:prstGeom>
          <a:noFill/>
          <a:ln w="15875">
            <a:solidFill>
              <a:srgbClr val="7B2D1E"/>
            </a:solidFill>
            <a:prstDash val="solid"/>
            <a:round/>
            <a:tailEnd type="triangle" w="med" len="med"/>
          </a:ln>
        </p:spPr>
      </p:sp>
      <p:sp>
        <p:nvSpPr>
          <p:cNvPr id="117" name="Label"/>
          <p:cNvSpPr/>
          <p:nvPr/>
        </p:nvSpPr>
        <p:spPr>
          <a:xfrm>
            <a:off x="2560320" y="3200400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7B2D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 returned to the client</a:t>
            </a:r>
          </a:p>
        </p:txBody>
      </p:sp>
      <p:sp>
        <p:nvSpPr>
          <p:cNvPr id="118" name="Notes"/>
          <p:cNvSpPr/>
          <p:nvPr/>
        </p:nvSpPr>
        <p:spPr>
          <a:xfrm>
            <a:off x="320040" y="374904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client uploads a chest X-ray or CT scan. The modality gate confirms it is the expected kind of scan and rejects anything else.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fine-tuned CNN classifies the image, and Grad-CAM marks the region that drove the prediction.</a:t>
            </a:r>
          </a:p>
          <a:p>
            <a:pPr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Groq-hosted LLM turns the result into plain language; for a logged-in user the scan is saved to their history.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Applicability in Societal Context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2608" y="868680"/>
            <a:ext cx="4165092" cy="384048"/>
          </a:xfrm>
          <a:prstGeom prst="rect">
            <a:avLst/>
          </a:prstGeom>
          <a:solidFill>
            <a:srgbClr val="7B2D1E"/>
          </a:solidFill>
          <a:ln/>
        </p:spPr>
      </p:sp>
      <p:sp>
        <p:nvSpPr>
          <p:cNvPr id="6" name="Text 3"/>
          <p:cNvSpPr/>
          <p:nvPr/>
        </p:nvSpPr>
        <p:spPr>
          <a:xfrm>
            <a:off x="292608" y="868680"/>
            <a:ext cx="4165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ECONOMICAL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2608" y="1252728"/>
            <a:ext cx="4165092" cy="2377440"/>
          </a:xfrm>
          <a:prstGeom prst="rect">
            <a:avLst/>
          </a:prstGeom>
          <a:solidFill>
            <a:srgbClr val="FBF3F1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1371600"/>
            <a:ext cx="389077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cost of early screening compared to specialist consultation</a:t>
            </a:r>
            <a:endParaRPr lang="en-US" sz="105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Saves time and manual effort for radiologists and clinics</a:t>
            </a:r>
            <a:endParaRPr lang="en-US" sz="105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employers/clinics with fast, scalable triage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86300" y="868680"/>
            <a:ext cx="4165092" cy="3840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4686300" y="868680"/>
            <a:ext cx="4165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86300" y="1252728"/>
            <a:ext cx="4165092" cy="2377440"/>
          </a:xfrm>
          <a:prstGeom prst="rect">
            <a:avLst/>
          </a:prstGeom>
          <a:solidFill>
            <a:srgbClr val="F0F4F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3460" y="1371600"/>
            <a:ext cx="389077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Bridges rural-urban gaps where radiologists are scarce</a:t>
            </a:r>
            <a:endParaRPr lang="en-US" sz="105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Connects patients to earlier, more accessible screening</a:t>
            </a:r>
            <a:endParaRPr lang="en-US" sz="105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AI-assisted triage reduces missed / delayed diagnoses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2608" y="3749040"/>
            <a:ext cx="8558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this system is designed as decision-support, not a replacement for clinical diagnosis.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Challenges &amp; Limitations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059624"/>
              </p:ext>
            </p:extLst>
          </p:nvPr>
        </p:nvGraphicFramePr>
        <p:xfrm>
          <a:off x="292607" y="822959"/>
          <a:ext cx="8433949" cy="3662168"/>
        </p:xfrm>
        <a:graphic>
          <a:graphicData uri="http://schemas.openxmlformats.org/drawingml/2006/table">
            <a:tbl>
              <a:tblPr/>
              <a:tblGrid>
                <a:gridCol w="1907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Challenge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 it Matters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Planned Mitigation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a diagnostic tool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 of over-reliance on AI output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Clear disclaimer; decision-support framing only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CT dataset small &amp; imbalanced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1,036 usable images; Malignant class ≈4.2x Benign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Inverse-frequency weighted loss (implemented); honest reporting of real accuracy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Near-duplicate slice leakage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Adjacent CT slices of one scan landing in both train and test inflate accuracy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Group-aware split; re-audited at 0 cross-split leaks (111 clusters)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Shortcut learning on acquisition artefacts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can separate classes on scanner protocol rather than pathology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Grad-CAM audit; 61 protocol-outlier images excluded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0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Domain shift across merged X-ray sources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 Kaggle sets differ in equipment, processing and label provenance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SHA-256 dedup; per-class stratified split; report per-class metrics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Project Plan &amp; Timeline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45216"/>
              </p:ext>
            </p:extLst>
          </p:nvPr>
        </p:nvGraphicFramePr>
        <p:xfrm>
          <a:off x="292608" y="914399"/>
          <a:ext cx="8558784" cy="327991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4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Phase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Timeline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Deliverable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Problem finalization, literature survey, dataset acquisition &amp; setup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Wk 1–4  ·  2 Aug – 29 Aug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 — scope &amp; objectives frozen; all three datasets downloaded, deduped, leakage-audited, split &amp; verified; environment ready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training &amp; backend integration (X-ray, CT, modality gate)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Wk 5–9  ·  30 Aug – 3 Oct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Trained checkpoints for all three models, Grad-CAM working, FastAPI inference API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Frontend, full integration, testing &amp; bug fixing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Wk 10–14  ·  4 Oct – 7 Nov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Working end-to-end app — React UI, auth, scan history, Gen AI report — tested and refined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Documentation, final report &amp; demo preparation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Wk 15–17  ·  8 Nov – 24 Nov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report with real results + rehearsed local demo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8686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Lung Disease Detection System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 to show how transfer-learned CNNs, combined with explainable AI and generative AI, can turn chest X-ray and lung CT screening into an accessible, trustworthy, and demoable tool.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7830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technical approach: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pipeline: upload → modality gate → CNN classification → explainability → Gen AI report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Dual-modality classification: chest X-ray (Normal/Pneumonia/TB/COVID-19) and lung CT (Normal/Benign/Malignant)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Grad-CAM based visual explainability for clinical trust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locally-demoable full-stack application — not just a research notebook. Dataset work is complete and independently audited for leakage (see “Data Integrity &amp; Leakage Audit”); model training, integration, and evaluation are the next milestones (see “Project Plan &amp; Timeline”).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91440"/>
            <a:ext cx="6537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92608" y="658368"/>
            <a:ext cx="8558784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pic>
        <p:nvPicPr>
          <p:cNvPr id="4" name="Image 0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5" name="References Body"/>
          <p:cNvSpPr/>
          <p:nvPr/>
        </p:nvSpPr>
        <p:spPr>
          <a:xfrm>
            <a:off x="502920" y="810000"/>
            <a:ext cx="8138160" cy="4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 Rajpurkar et al., “CheXNet: Radiologist-level pneumonia detection on chest X-rays with deep learning,” arXiv:1711.05225, 2017.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 E. H. Chowdhury et al., “Can AI help in screening viral and COVID-19 pneumonia?,” IEEE Access, vol. 8, pp. 132665–132676, 2020.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T. Rahman et al., “Reliable tuberculosis detection using chest X-ray with deep learning, segmentation and visualization,” IEEE Access, vol. 8, pp. 191586–191601, 2020.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Mirugwe, L. Tamale, and J. Nyirenda, “Improving tuberculosis detection in chest X-ray images through transfer learning and deep learning: Comparative study of CNN architectures,” JMIRx Med, vol. 6, e66029, 2025.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Z. Benamara, S. Zehani, A. Zitouni, and T. Beghriche, “An innovative multi-level fine-tuning deep learning approach for enhanced lung cancer classification,” Netw. Model. Anal. Health Inform. Bioinform., vol. 14, art. 90, 2025.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G. Huang, Z. Liu, L. van der Maaten, and K. Q. Weinberger, “Densely connected convolutional networks,” in Proc. IEEE CVPR, 2017, pp. 4700–4708.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R. Selvaraju et al., “Grad-CAM: Visual explanations from deep networks via gradient-based localization,” in Proc. IEEE ICCV, 2017, pp. 618–626.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 E. H. Chowdhury et al., “COVID-19 Radiography Database,” Kaggle, 2021.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T. Rahman et al., “Tuberculosis (TB) Chest X-ray Database,” Kaggle, 2021.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H. Alyasriy and M. Al-Huseiny, “The IQ-OTH/NCCD lung cancer dataset,” Mendeley Data, v1, 2020.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 Health Organization, “Global Tuberculosis Report 2025,” WHO, Geneva, 2025.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N. Ramnath, P. Ganesan, P. Penumadu, D. Arenberg, and A. Bryant, “Lung cancer screening in India: Preparing for the future using smart tools &amp; biomarkers,” Indian J. Med. Res., vol. 160, no. 6, pp. 561–569, 2025.</a:t>
            </a:r>
          </a:p>
          <a:p>
            <a:pPr marL="342900" indent="-342900">
              <a:lnSpc>
                <a:spcPct val="105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[13]  </a:t>
            </a: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Radiology and Imaging Association of India / ICMR, “Radiologist workforce distribution in India,” cited in Medical Buyer, 2023.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786384"/>
            <a:ext cx="8558784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pic>
        <p:nvPicPr>
          <p:cNvPr id="3" name="Image 0" descr="/home/claude/dec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8016"/>
            <a:ext cx="187452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AI-Powered Lung Disease Detection System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Under the guidance of </a:t>
            </a:r>
            <a:r>
              <a:rPr lang="en-US" sz="11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Indira Bidari</a:t>
            </a:r>
            <a:r>
              <a:rPr lang="en-US" sz="11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·   Assistant Professor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Sharan Pachapuri, Sampad Gaonkar, Rohit Bendigeri, Vijet Nayak  ·  B.E. CSE, 7th Semester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3227</Words>
  <Application>Microsoft Office PowerPoint</Application>
  <PresentationFormat>On-screen Show (16:9)</PresentationFormat>
  <Paragraphs>293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Sharan</cp:lastModifiedBy>
  <cp:revision>2</cp:revision>
  <dcterms:created xsi:type="dcterms:W3CDTF">2026-08-06T17:46:41Z</dcterms:created>
  <dcterms:modified xsi:type="dcterms:W3CDTF">2026-09-02T04:36:23Z</dcterms:modified>
</cp:coreProperties>
</file>