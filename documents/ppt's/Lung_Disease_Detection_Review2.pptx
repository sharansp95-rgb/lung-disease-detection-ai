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77" r:id="rId28"/>
    <p:sldId id="264" r:id="rId10"/>
    <p:sldId id="278" r:id="rId29"/>
    <p:sldId id="279" r:id="rId30"/>
    <p:sldId id="280" r:id="rId31"/>
    <p:sldId id="281" r:id="rId32"/>
    <p:sldId id="282" r:id="rId33"/>
    <p:sldId id="283" r:id="rId34"/>
    <p:sldId id="266" r:id="rId12"/>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10" Type="http://schemas.openxmlformats.org/officeDocument/2006/relationships/slide" Target="slides/slide5.xml"/><Relationship Id="rId12"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guide. Review 2 covers the design of the system: requirements, architecture, design decisions, UML models, design patterns and APIs, detailed design (algorithms and pseudo code), and the implemented and tested modules.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Ten content slides, each mapped to a Review-2 rubric indicator (shown in orange), in the order the rubric lists them: requirements, architecture and design decisions, detailed design, then the implementation, testing and tools.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the UI posts the image with the session token; FastAPI validates it, calls the sanity and modality gates, crops the lungs, runs the OOD check and the classifier with Grad-CAM under one lock, asks the LLM for the report and stores the scan. If any check fails, the request stops there and the UI shows the reason. The state diagram is our UX model: signed out, unverified, ready, analysing, result or rejected, chat and history. A 401 at any point returns the user to signed 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 a registered user inherits every guest use case; 'Upload &amp; analyse scan' always includes 'Validate scan'; Groq, Gmail and Google OAuth are secondary actors. Class: PredictionService owns five ModelBundles (two sanity gates, the modality gate, two classifiers), two OOD detectors and one SegBundle wrapping the U-Net. ImageClassifier and XRVClassifier both inherit from PyTorch nn.Module; GradCAM hooks into the classifier; OODDetector uses the classifier's features. All diagrams were drawn in PlantUML.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tiers. Client: React 19 single-page app; every request goes through api.js. Application: FastAPI with 15 routes; the prediction route runs input checks, sanity gate, modality gate, U-Net crop (X-ray), OOD check, classifier with Grad-CAM, LLM report and saves the scan. Any red stage can stop the request with a plain-English reason (HTTP 400/413/422). Data: SQLite with three tables plus the model store. External: Groq, Gmail SMTP, Google OAuth. In public mode an ngrok tunnel serves the front end, which proxies /api to the back end on loopback, so the back end is never exposed directly.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come from the literature gap found in Review 1: existing systems handle one disease or modality, return a bare label, and accept any image. FR3–FR5 address input validity, FR7–FR9 explainability. NFR1 was measured: mean 1.26 s (X-ray) and 1.29 s (CT) end to end, including the report. Full list with use-case descriptions is in Chapter 2 of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point: sign in, upload an X-ray, show the heatmap and report, ask the chatbot, then upload a photo to show a rejection. Implementation: data preparation and audit, classifier training, gates, U-Net crop, OOD detector, classification with Grad-CAM, report and chat, start-up check, authentication, rate limiting, front end and deployment are all built and connected. Testing: the backend suite in backend/tests covers authentication, prediction, every rejection path, chat limits and origin handling, with SMTP and Groq mocked. Tools: PlantUML for the UML models, LaTeX for the report, pytest for testing.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principle is justified by something we measured or observed. The 92% figure: before the sanity gate existed, a random photograph was scored 92% 'xray' by the modality gate and also passed the OOD check. The start-up re-scoring caught a checkpoint trained on a different version of the data. Assumptions and constraints are in Section 3.4 of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decision-making tool: a weighted decision matrix. Ratings are our team's assessment from published evidence. Accuracy: CheXNet (DenseNet-121) is the reference chest X-ray model. CPU cost: parameter count, since serving runs on a laptop. Chest-X-ray weights: TorchXRayVision provides chest-pretrained DenseNet-121 (and ResNet-50) but not VGG, Inception or EfficientNet. Maintainability: torchvision support and a clean last convolutional block for Grad-CAM. DenseNet-121 scores 4.75 of 5. The four cards show the other architecture decisions and the quality attribute each one serves.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where each pattern sits in the request path. Facade: frontend/src/api.js wraps every backend call and turns failures into one ApiError. Provider: AuthProvider and ThemeContext. Dependency injection: FastAPI Depends(require_verified_if_logged_in). Chain of responsibility: _run_prediction runs validation, sanity gate, modality gate and OOD in order; any stage can reject. Strategy: preprocessing and Grad-CAM are chosen by backbone (is_xrv_backbone). Singleton: models load once in _ensure_models_loaded under a lock. Fallback: report.generate_report returns a template if Groq fails. APIs: 15 REST routes defined with Pydantic schemas, three remote APIs, and library APIs for the models.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we listed the standard alternatives and picked one against our constraints. Classifier: from the decision matrix. Segmentation: U-Net is the standard for biomedical segmentation with small data; reproduced Dice 0.983. Gates: the modality gate was added because a real CT slice passed the X-ray OOD check. OOD: maximum softmax probability is a weak signal for unfamiliar input (Hendrycks and Gimpel); Mahalanobis needs a full covariance that 829 CT images cannot estimate in 1024 dimensions, so we use Euclidean distance to the training-feature centroid with a 99th-percentile threshold. Explainability: Grad-CAM is fast enough to run on every request.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 1 is the shared prediction pipeline for both routes, with inputs and outputs stated. The order matters: the sanity gate runs first because the modality gate has no 'neither' option; only images that pass both are lung-cropped; the OOD check and Grad-CAM run under one lock because Grad-CAM attaches hooks to the shared model. The report also gives pseudo code for training, the lung crop, the data audit and the start-up check. Right: the mathematical models behind the OOD detector, Grad-CAM, the class-weighted loss and the crop.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panel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logo.png">    </p:cNvPr>
          <p:cNvPicPr>
            <a:picLocks noChangeAspect="1"/>
          </p:cNvPicPr>
          <p:nvPr/>
        </p:nvPicPr>
        <p:blipFill>
          <a:blip r:embed="rId1"/>
          <a:stretch>
            <a:fillRect/>
          </a:stretch>
        </p:blipFill>
        <p:spPr>
          <a:xfrm>
            <a:off x="3639312" y="182880"/>
            <a:ext cx="1874520" cy="446227"/>
          </a:xfrm>
          <a:prstGeom prst="rect">
            <a:avLst/>
          </a:prstGeom>
        </p:spPr>
      </p:pic>
      <p:sp>
        <p:nvSpPr>
          <p:cNvPr id="3" name="Text 0"/>
          <p:cNvSpPr txBox="1"/>
          <p:nvPr/>
        </p:nvSpPr>
        <p:spPr>
          <a:xfrm>
            <a:off x="548640" y="777240"/>
            <a:ext cx="8046720" cy="365760"/>
          </a:xfrm>
          <a:prstGeom prst="rect">
            <a:avLst/>
          </a:prstGeom>
          <a:noFill/>
          <a:ln/>
        </p:spPr>
        <p:txBody>
          <a:bodyPr wrap="square" lIns="0" tIns="0" rIns="0" bIns="0" rtlCol="0" anchor="ctr"/>
          <a:lstStyle/>
          <a:p>
            <a:pPr algn="ctr" indent="0" marL="0">
              <a:buNone/>
            </a:pPr>
            <a:r>
              <a:rPr lang="en-US" sz="1800" b="1" dirty="0">
                <a:solidFill>
                  <a:srgbClr val="C00000"/>
                </a:solidFill>
                <a:latin typeface="Garamond" pitchFamily="34" charset="0"/>
                <a:ea typeface="Garamond" pitchFamily="34" charset="-122"/>
                <a:cs typeface="Garamond" pitchFamily="34" charset="-120"/>
              </a:rPr>
              <a:t>Department of Computer Science and Engineering</a:t>
            </a:r>
            <a:endParaRPr lang="en-US" sz="1800" dirty="0"/>
          </a:p>
        </p:txBody>
      </p:sp>
      <p:sp>
        <p:nvSpPr>
          <p:cNvPr id="4" name="Text 1"/>
          <p:cNvSpPr txBox="1"/>
          <p:nvPr/>
        </p:nvSpPr>
        <p:spPr>
          <a:xfrm>
            <a:off x="548640" y="1170432"/>
            <a:ext cx="8046720" cy="384048"/>
          </a:xfrm>
          <a:prstGeom prst="rect">
            <a:avLst/>
          </a:prstGeom>
          <a:noFill/>
          <a:ln/>
        </p:spPr>
        <p:txBody>
          <a:bodyPr wrap="square" lIns="0" tIns="0" rIns="0" bIns="0" rtlCol="0" anchor="ctr"/>
          <a:lstStyle/>
          <a:p>
            <a:pPr algn="ctr" indent="0" marL="0">
              <a:buNone/>
            </a:pPr>
            <a:r>
              <a:rPr lang="en-US" sz="2200" b="1" dirty="0">
                <a:solidFill>
                  <a:srgbClr val="000000"/>
                </a:solidFill>
                <a:latin typeface="Garamond" pitchFamily="34" charset="0"/>
                <a:ea typeface="Garamond" pitchFamily="34" charset="-122"/>
                <a:cs typeface="Garamond" pitchFamily="34" charset="-120"/>
              </a:rPr>
              <a:t>Senior Design Project — Review 2</a:t>
            </a:r>
            <a:endParaRPr lang="en-US" sz="2200" dirty="0"/>
          </a:p>
        </p:txBody>
      </p:sp>
      <p:sp>
        <p:nvSpPr>
          <p:cNvPr id="5" name="Text 2"/>
          <p:cNvSpPr txBox="1"/>
          <p:nvPr/>
        </p:nvSpPr>
        <p:spPr>
          <a:xfrm>
            <a:off x="548640" y="1536192"/>
            <a:ext cx="8046720"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Garamond" pitchFamily="34" charset="0"/>
                <a:ea typeface="Garamond" pitchFamily="34" charset="-122"/>
                <a:cs typeface="Garamond" pitchFamily="34" charset="-120"/>
              </a:rPr>
              <a:t>Code: 20ECSW401     VII Sem     Year: 2026-27</a:t>
            </a:r>
            <a:endParaRPr lang="en-US" sz="1500" dirty="0"/>
          </a:p>
        </p:txBody>
      </p:sp>
      <p:sp>
        <p:nvSpPr>
          <p:cNvPr id="6" name="Text 3"/>
          <p:cNvSpPr txBox="1"/>
          <p:nvPr/>
        </p:nvSpPr>
        <p:spPr>
          <a:xfrm>
            <a:off x="548640" y="1920240"/>
            <a:ext cx="8046720" cy="365760"/>
          </a:xfrm>
          <a:prstGeom prst="rect">
            <a:avLst/>
          </a:prstGeom>
          <a:noFill/>
          <a:ln/>
        </p:spPr>
        <p:txBody>
          <a:bodyPr wrap="square" lIns="0" tIns="0" rIns="0" bIns="0" rtlCol="0" anchor="ctr"/>
          <a:lstStyle/>
          <a:p>
            <a:pPr algn="ctr" indent="0" marL="0">
              <a:buNone/>
            </a:pPr>
            <a:r>
              <a:rPr lang="en-US" sz="1600" dirty="0">
                <a:solidFill>
                  <a:srgbClr val="000000"/>
                </a:solidFill>
                <a:latin typeface="Garamond" pitchFamily="34" charset="0"/>
                <a:ea typeface="Garamond" pitchFamily="34" charset="-122"/>
                <a:cs typeface="Garamond" pitchFamily="34" charset="-120"/>
              </a:rPr>
              <a:t>Project Title: </a:t>
            </a:r>
            <a:pPr algn="ctr" indent="0" marL="0">
              <a:buNone/>
            </a:pPr>
            <a:r>
              <a:rPr lang="en-US" sz="1600" dirty="0">
                <a:solidFill>
                  <a:srgbClr val="3E1C94"/>
                </a:solidFill>
                <a:latin typeface="Garamond" pitchFamily="34" charset="0"/>
                <a:ea typeface="Garamond" pitchFamily="34" charset="-122"/>
                <a:cs typeface="Garamond" pitchFamily="34" charset="-120"/>
              </a:rPr>
              <a:t>AI-Powered Lung Disease Detection System</a:t>
            </a:r>
            <a:endParaRPr lang="en-US" sz="1600" dirty="0"/>
          </a:p>
        </p:txBody>
      </p:sp>
      <p:sp>
        <p:nvSpPr>
          <p:cNvPr id="7" name="Text 4"/>
          <p:cNvSpPr txBox="1"/>
          <p:nvPr/>
        </p:nvSpPr>
        <p:spPr>
          <a:xfrm>
            <a:off x="548640" y="2286000"/>
            <a:ext cx="8046720" cy="292608"/>
          </a:xfrm>
          <a:prstGeom prst="rect">
            <a:avLst/>
          </a:prstGeom>
          <a:noFill/>
          <a:ln/>
        </p:spPr>
        <p:txBody>
          <a:bodyPr wrap="square" lIns="0" tIns="0" rIns="0" bIns="0" rtlCol="0" anchor="ctr"/>
          <a:lstStyle/>
          <a:p>
            <a:pPr algn="ctr" indent="0" marL="0">
              <a:buNone/>
            </a:pPr>
            <a:r>
              <a:rPr lang="en-US" sz="1000" i="1" dirty="0">
                <a:solidFill>
                  <a:srgbClr val="444444"/>
                </a:solidFill>
                <a:latin typeface="Garamond" pitchFamily="34" charset="0"/>
                <a:ea typeface="Garamond" pitchFamily="34" charset="-122"/>
                <a:cs typeface="Garamond" pitchFamily="34" charset="-120"/>
              </a:rPr>
              <a:t>Screens chest X-rays and CT slices, explains every prediction, and refuses images it can't handle.</a:t>
            </a:r>
            <a:endParaRPr lang="en-US" sz="1000" dirty="0"/>
          </a:p>
        </p:txBody>
      </p:sp>
      <p:sp>
        <p:nvSpPr>
          <p:cNvPr id="8" name="Text 5"/>
          <p:cNvSpPr txBox="1"/>
          <p:nvPr/>
        </p:nvSpPr>
        <p:spPr>
          <a:xfrm>
            <a:off x="548640" y="2688336"/>
            <a:ext cx="8046720" cy="274320"/>
          </a:xfrm>
          <a:prstGeom prst="rect">
            <a:avLst/>
          </a:prstGeom>
          <a:noFill/>
          <a:ln/>
        </p:spPr>
        <p:txBody>
          <a:bodyPr wrap="square" lIns="0" tIns="0" rIns="0" bIns="0" rtlCol="0" anchor="ctr"/>
          <a:lstStyle/>
          <a:p>
            <a:pPr algn="ctr" indent="0" marL="0">
              <a:buNone/>
            </a:pPr>
            <a:r>
              <a:rPr lang="en-US" sz="1400" b="1" dirty="0">
                <a:solidFill>
                  <a:srgbClr val="000000"/>
                </a:solidFill>
                <a:latin typeface="Garamond" pitchFamily="34" charset="0"/>
                <a:ea typeface="Garamond" pitchFamily="34" charset="-122"/>
                <a:cs typeface="Garamond" pitchFamily="34" charset="-120"/>
              </a:rPr>
              <a:t>Team Details</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606040" y="3054096"/>
          <a:ext cx="3931920" cy="914400"/>
        </p:xfrm>
        <a:graphic>
          <a:graphicData uri="http://schemas.openxmlformats.org/drawingml/2006/table">
            <a:tbl>
              <a:tblPr/>
              <a:tblGrid>
                <a:gridCol w="548640"/>
                <a:gridCol w="1737360"/>
                <a:gridCol w="1645920"/>
              </a:tblGrid>
              <a:tr h="201168">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Sl.no</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Name</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USN</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rgbClr val="F2F2F2"/>
                    </a:solidFill>
                  </a:tcPr>
                </a:tc>
              </a:tr>
              <a:tr h="201168">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1.</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Sharan Pachapuri</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01FE23BCS027</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r>
              <a:tr h="201168">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2.</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Sampad Gaonkar</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01FE23BCS024</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r>
              <a:tr h="201168">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3.</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Vijet Nayak</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01FE22BCS324</a:t>
                      </a:r>
                      <a:endParaRPr lang="en-US" sz="1000" dirty="0">
                        <a:latin typeface="Times New Roman" charset="0"/>
                        <a:ea typeface="Times New Roman" charset="0"/>
                        <a:cs typeface="Times New Roman" charset="0"/>
                      </a:endParaRPr>
                    </a:p>
                  </a:txBody>
                  <a:tcPr marL="0" marR="0" marT="0" marB="0" anchor="ctr">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tr>
            </a:tbl>
          </a:graphicData>
        </a:graphic>
      </p:graphicFrame>
      <p:sp>
        <p:nvSpPr>
          <p:cNvPr id="10" name="Text 6"/>
          <p:cNvSpPr txBox="1"/>
          <p:nvPr/>
        </p:nvSpPr>
        <p:spPr>
          <a:xfrm>
            <a:off x="548640" y="4389120"/>
            <a:ext cx="8046720" cy="292608"/>
          </a:xfrm>
          <a:prstGeom prst="rect">
            <a:avLst/>
          </a:prstGeom>
          <a:noFill/>
          <a:ln/>
        </p:spPr>
        <p:txBody>
          <a:bodyPr wrap="square" lIns="0" tIns="0" rIns="0" bIns="0" rtlCol="0" anchor="ctr"/>
          <a:lstStyle/>
          <a:p>
            <a:pPr algn="ctr" indent="0" marL="0">
              <a:buNone/>
            </a:pPr>
            <a:r>
              <a:rPr lang="en-US" sz="1200" dirty="0">
                <a:solidFill>
                  <a:srgbClr val="000000"/>
                </a:solidFill>
                <a:latin typeface="Garamond" pitchFamily="34" charset="0"/>
                <a:ea typeface="Garamond" pitchFamily="34" charset="-122"/>
                <a:cs typeface="Garamond" pitchFamily="34" charset="-120"/>
              </a:rPr>
              <a:t>Under the guidance of </a:t>
            </a:r>
            <a:pPr algn="ctr" indent="0" marL="0">
              <a:buNone/>
            </a:pPr>
            <a:r>
              <a:rPr lang="en-US" sz="1200" b="1" dirty="0">
                <a:solidFill>
                  <a:srgbClr val="000000"/>
                </a:solidFill>
                <a:latin typeface="Garamond" pitchFamily="34" charset="0"/>
                <a:ea typeface="Garamond" pitchFamily="34" charset="-122"/>
                <a:cs typeface="Garamond" pitchFamily="34" charset="-120"/>
              </a:rPr>
              <a:t>: Prof. Indira Bidari, Assistant Professor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Contents</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sp>
        <p:nvSpPr>
          <p:cNvPr id="5" name="Text 2"/>
          <p:cNvSpPr txBox="1"/>
          <p:nvPr/>
        </p:nvSpPr>
        <p:spPr>
          <a:xfrm>
            <a:off x="548640" y="960120"/>
            <a:ext cx="4023360" cy="3931920"/>
          </a:xfrm>
          <a:prstGeom prst="rect">
            <a:avLst/>
          </a:prstGeom>
          <a:noFill/>
          <a:ln/>
        </p:spPr>
        <p:txBody>
          <a:bodyPr wrap="square" lIns="0" tIns="0" rIns="0" bIns="0" rtlCol="0" anchor="t"/>
          <a:lstStyle/>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1.  System Requirements</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2.  Design Principles, Assumptions &amp; Constraints</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3.  System Architecture</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4.  Design Decisions: Criteria-Based Selection</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5.  UML: Use Case &amp; Class Diagrams</a:t>
            </a:r>
            <a:endParaRPr lang="en-US" sz="1600" dirty="0"/>
          </a:p>
        </p:txBody>
      </p:sp>
      <p:sp>
        <p:nvSpPr>
          <p:cNvPr id="6" name="Text 3"/>
          <p:cNvSpPr txBox="1"/>
          <p:nvPr/>
        </p:nvSpPr>
        <p:spPr>
          <a:xfrm>
            <a:off x="4754880" y="960120"/>
            <a:ext cx="4023360" cy="3931920"/>
          </a:xfrm>
          <a:prstGeom prst="rect">
            <a:avLst/>
          </a:prstGeom>
          <a:noFill/>
          <a:ln/>
        </p:spPr>
        <p:txBody>
          <a:bodyPr wrap="square" lIns="0" tIns="0" rIns="0" bIns="0" rtlCol="0" anchor="t"/>
          <a:lstStyle/>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6.  UML: Sequence &amp; State (UX Flow)</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7.  Design Patterns &amp; API Structure</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8.  Detailed Design: Algorithm Selection</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9.  Pseudo Code &amp; Mathematical Models</a:t>
            </a:r>
            <a:endParaRPr lang="en-US" sz="1600" dirty="0"/>
          </a:p>
          <a:p>
            <a:pPr marL="0" indent="0">
              <a:spcAft>
                <a:spcPts val="1300"/>
              </a:spcAft>
              <a:buSzPct val="100000"/>
              <a:buNone/>
            </a:pPr>
            <a:r>
              <a:rPr lang="en-US" sz="1600" dirty="0">
                <a:solidFill>
                  <a:srgbClr val="000000"/>
                </a:solidFill>
                <a:latin typeface="Times New Roman" pitchFamily="34" charset="0"/>
                <a:ea typeface="Times New Roman" pitchFamily="34" charset="-122"/>
                <a:cs typeface="Times New Roman" pitchFamily="34" charset="-120"/>
              </a:rPr>
              <a:t>10.  Implementation, Integration &amp; Testing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System Requirements</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graphicFrame>
        <p:nvGraphicFramePr>
          <p:cNvPr id="6" name="Table 5"/>
          <p:cNvGraphicFramePr>
            <a:graphicFrameLocks noGrp="1"/>
          </p:cNvGraphicFramePr>
          <p:nvPr/>
        </p:nvGraphicFramePr>
        <p:xfrm>
          <a:off x="292608" y="822960"/>
          <a:ext cx="5120640" cy="3031236"/>
        </p:xfrm>
        <a:graphic>
          <a:graphicData uri="http://schemas.openxmlformats.org/drawingml/2006/table">
            <a:tbl>
              <a:tblPr/>
              <a:tblGrid>
                <a:gridCol w="548640"/>
                <a:gridCol w="4572000"/>
              </a:tblGrid>
              <a:tr h="233172">
                <a:tc>
                  <a:txBody>
                    <a:bodyPr wrap="square"/>
                    <a:lstStyle/>
                    <a:p>
                      <a:r>
                        <a:rPr sz="1100" b="1" i="0">
                          <a:solidFill>
                            <a:srgbClr val="FFFFFF"/>
                          </a:solidFill>
                          <a:latin typeface="Times New Roman"/>
                        </a:rPr>
                        <a:t>ID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Functional requirement: the system shall …</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r>
              <a:tr h="233172">
                <a:tc>
                  <a:txBody>
                    <a:bodyPr wrap="square"/>
                    <a:lstStyle/>
                    <a:p>
                      <a:r>
                        <a:rPr sz="1050" b="1" i="0">
                          <a:solidFill>
                            <a:srgbClr val="7B2D1E"/>
                          </a:solidFill>
                          <a:latin typeface="Times New Roman"/>
                        </a:rPr>
                        <a:t>FR1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Accept a chest X-ray or CT image (PNG/JPEG, ≤ 10 MB)</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33172">
                <a:tc>
                  <a:txBody>
                    <a:bodyPr wrap="square"/>
                    <a:lstStyle/>
                    <a:p>
                      <a:r>
                        <a:rPr sz="1050" b="1" i="0">
                          <a:solidFill>
                            <a:srgbClr val="7B2D1E"/>
                          </a:solidFill>
                          <a:latin typeface="Times New Roman"/>
                        </a:rPr>
                        <a:t>FR2</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Reject empty, corrupt, blank or colour images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33172">
                <a:tc>
                  <a:txBody>
                    <a:bodyPr wrap="square"/>
                    <a:lstStyle/>
                    <a:p>
                      <a:r>
                        <a:rPr sz="1050" b="1" i="0">
                          <a:solidFill>
                            <a:srgbClr val="7B2D1E"/>
                          </a:solidFill>
                          <a:latin typeface="Times New Roman"/>
                        </a:rPr>
                        <a:t>FR3</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Reject non-scans and wrong or uncertain modality</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33172">
                <a:tc>
                  <a:txBody>
                    <a:bodyPr wrap="square"/>
                    <a:lstStyle/>
                    <a:p>
                      <a:r>
                        <a:rPr sz="1050" b="1" i="0">
                          <a:solidFill>
                            <a:srgbClr val="7B2D1E"/>
                          </a:solidFill>
                          <a:latin typeface="Times New Roman"/>
                        </a:rPr>
                        <a:t>FR4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Reject images outside the training distribution (OOD)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33172">
                <a:tc>
                  <a:txBody>
                    <a:bodyPr wrap="square"/>
                    <a:lstStyle/>
                    <a:p>
                      <a:r>
                        <a:rPr sz="1050" b="1" i="0">
                          <a:solidFill>
                            <a:srgbClr val="7B2D1E"/>
                          </a:solidFill>
                          <a:latin typeface="Times New Roman"/>
                        </a:rPr>
                        <a:t>FR5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Classify X-ray (4 classes) and CT (3 classes) with confidence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33172">
                <a:tc>
                  <a:txBody>
                    <a:bodyPr wrap="square"/>
                    <a:lstStyle/>
                    <a:p>
                      <a:r>
                        <a:rPr sz="1050" b="1" i="0">
                          <a:solidFill>
                            <a:srgbClr val="7B2D1E"/>
                          </a:solidFill>
                          <a:latin typeface="Times New Roman"/>
                        </a:rPr>
                        <a:t>FR6</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Crop chest X-rays to the lung fields (U-Net)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33172">
                <a:tc>
                  <a:txBody>
                    <a:bodyPr wrap="square"/>
                    <a:lstStyle/>
                    <a:p>
                      <a:r>
                        <a:rPr sz="1050" b="1" i="0">
                          <a:solidFill>
                            <a:srgbClr val="7B2D1E"/>
                          </a:solidFill>
                          <a:latin typeface="Times New Roman"/>
                        </a:rPr>
                        <a:t>FR7</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Show a Grad-CAM heatmap for every prediction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33172">
                <a:tc>
                  <a:txBody>
                    <a:bodyPr wrap="square"/>
                    <a:lstStyle/>
                    <a:p>
                      <a:r>
                        <a:rPr sz="1050" b="1" i="0">
                          <a:solidFill>
                            <a:srgbClr val="7B2D1E"/>
                          </a:solidFill>
                          <a:latin typeface="Times New Roman"/>
                        </a:rPr>
                        <a:t>FR8</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Write a non-diagnostic report (template if LLM is down)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33172">
                <a:tc>
                  <a:txBody>
                    <a:bodyPr wrap="square"/>
                    <a:lstStyle/>
                    <a:p>
                      <a:r>
                        <a:rPr sz="1050" b="1" i="0">
                          <a:solidFill>
                            <a:srgbClr val="7B2D1E"/>
                          </a:solidFill>
                          <a:latin typeface="Times New Roman"/>
                        </a:rPr>
                        <a:t>FR9</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Answer questions through a scoped chat assistant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33172">
                <a:tc>
                  <a:txBody>
                    <a:bodyPr wrap="square"/>
                    <a:lstStyle/>
                    <a:p>
                      <a:r>
                        <a:rPr sz="1050" b="1" i="0">
                          <a:solidFill>
                            <a:srgbClr val="7B2D1E"/>
                          </a:solidFill>
                          <a:latin typeface="Times New Roman"/>
                        </a:rPr>
                        <a:t>FR10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Sign-up, email verification, login (email/Google), reset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33172">
                <a:tc>
                  <a:txBody>
                    <a:bodyPr wrap="square"/>
                    <a:lstStyle/>
                    <a:p>
                      <a:r>
                        <a:rPr sz="1050" b="1" i="0">
                          <a:solidFill>
                            <a:srgbClr val="7B2D1E"/>
                          </a:solidFill>
                          <a:latin typeface="Times New Roman"/>
                        </a:rPr>
                        <a:t>FR11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Save each user's scans and show the history</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33172">
                <a:tc>
                  <a:txBody>
                    <a:bodyPr wrap="square"/>
                    <a:lstStyle/>
                    <a:p>
                      <a:r>
                        <a:rPr sz="1050" b="1" i="0">
                          <a:solidFill>
                            <a:srgbClr val="7B2D1E"/>
                          </a:solidFill>
                          <a:latin typeface="Times New Roman"/>
                        </a:rPr>
                        <a:t>FR12</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Verify each model's validation metric at start-up</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bl>
          </a:graphicData>
        </a:graphic>
      </p:graphicFrame>
      <p:graphicFrame>
        <p:nvGraphicFramePr>
          <p:cNvPr id="7" name="Table 6"/>
          <p:cNvGraphicFramePr>
            <a:graphicFrameLocks noGrp="1"/>
          </p:cNvGraphicFramePr>
          <p:nvPr/>
        </p:nvGraphicFramePr>
        <p:xfrm>
          <a:off x="5596128" y="822960"/>
          <a:ext cx="3255264" cy="2816352"/>
        </p:xfrm>
        <a:graphic>
          <a:graphicData uri="http://schemas.openxmlformats.org/drawingml/2006/table">
            <a:tbl>
              <a:tblPr/>
              <a:tblGrid>
                <a:gridCol w="603504"/>
                <a:gridCol w="2651760"/>
              </a:tblGrid>
              <a:tr h="402336">
                <a:tc>
                  <a:txBody>
                    <a:bodyPr wrap="square"/>
                    <a:lstStyle/>
                    <a:p>
                      <a:r>
                        <a:rPr sz="1100" b="1" i="0">
                          <a:solidFill>
                            <a:srgbClr val="FFFFFF"/>
                          </a:solidFill>
                          <a:latin typeface="Times New Roman"/>
                        </a:rPr>
                        <a:t>ID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Non-functional requirement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r>
              <a:tr h="402336">
                <a:tc>
                  <a:txBody>
                    <a:bodyPr wrap="square"/>
                    <a:lstStyle/>
                    <a:p>
                      <a:r>
                        <a:rPr sz="1050" b="1" i="0">
                          <a:solidFill>
                            <a:srgbClr val="7B2D1E"/>
                          </a:solidFill>
                          <a:latin typeface="Times New Roman"/>
                        </a:rPr>
                        <a:t>NFR1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1" i="0">
                          <a:solidFill>
                            <a:srgbClr val="000000"/>
                          </a:solidFill>
                          <a:latin typeface="Times New Roman"/>
                        </a:rPr>
                        <a:t>Performance: </a:t>
                      </a:r>
                      <a:r>
                        <a:rPr sz="1050" b="0" i="0">
                          <a:solidFill>
                            <a:srgbClr val="000000"/>
                          </a:solidFill>
                          <a:latin typeface="Times New Roman"/>
                        </a:rPr>
                        <a:t>≈1.3 s per prediction on a laptop</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402336">
                <a:tc>
                  <a:txBody>
                    <a:bodyPr wrap="square"/>
                    <a:lstStyle/>
                    <a:p>
                      <a:r>
                        <a:rPr sz="1050" b="1" i="0">
                          <a:solidFill>
                            <a:srgbClr val="7B2D1E"/>
                          </a:solidFill>
                          <a:latin typeface="Times New Roman"/>
                        </a:rPr>
                        <a:t>NFR2</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1" i="0">
                          <a:solidFill>
                            <a:srgbClr val="000000"/>
                          </a:solidFill>
                          <a:latin typeface="Times New Roman"/>
                        </a:rPr>
                        <a:t>Correctness: </a:t>
                      </a:r>
                      <a:r>
                        <a:rPr sz="1050" b="0" i="0">
                          <a:solidFill>
                            <a:srgbClr val="000000"/>
                          </a:solidFill>
                          <a:latin typeface="Times New Roman"/>
                        </a:rPr>
                        <a:t>serve exactly the models whose metrics are reported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402336">
                <a:tc>
                  <a:txBody>
                    <a:bodyPr wrap="square"/>
                    <a:lstStyle/>
                    <a:p>
                      <a:r>
                        <a:rPr sz="1050" b="1" i="0">
                          <a:solidFill>
                            <a:srgbClr val="7B2D1E"/>
                          </a:solidFill>
                          <a:latin typeface="Times New Roman"/>
                        </a:rPr>
                        <a:t>NFR3</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1" i="0">
                          <a:solidFill>
                            <a:srgbClr val="000000"/>
                          </a:solidFill>
                          <a:latin typeface="Times New Roman"/>
                        </a:rPr>
                        <a:t>Security: </a:t>
                      </a:r>
                      <a:r>
                        <a:rPr sz="1050" b="0" i="0">
                          <a:solidFill>
                            <a:srgbClr val="000000"/>
                          </a:solidFill>
                          <a:latin typeface="Times New Roman"/>
                        </a:rPr>
                        <a:t>bcrypt passwords, signed 7-day JWT, rate limits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402336">
                <a:tc>
                  <a:txBody>
                    <a:bodyPr wrap="square"/>
                    <a:lstStyle/>
                    <a:p>
                      <a:r>
                        <a:rPr sz="1050" b="1" i="0">
                          <a:solidFill>
                            <a:srgbClr val="7B2D1E"/>
                          </a:solidFill>
                          <a:latin typeface="Times New Roman"/>
                        </a:rPr>
                        <a:t>NFR4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1" i="0">
                          <a:solidFill>
                            <a:srgbClr val="000000"/>
                          </a:solidFill>
                          <a:latin typeface="Times New Roman"/>
                        </a:rPr>
                        <a:t>Usability: </a:t>
                      </a:r>
                      <a:r>
                        <a:rPr sz="1050" b="0" i="0">
                          <a:solidFill>
                            <a:srgbClr val="000000"/>
                          </a:solidFill>
                          <a:latin typeface="Times New Roman"/>
                        </a:rPr>
                        <a:t>no manual needed; every rejection in plain English</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402336">
                <a:tc>
                  <a:txBody>
                    <a:bodyPr wrap="square"/>
                    <a:lstStyle/>
                    <a:p>
                      <a:r>
                        <a:rPr sz="1050" b="1" i="0">
                          <a:solidFill>
                            <a:srgbClr val="7B2D1E"/>
                          </a:solidFill>
                          <a:latin typeface="Times New Roman"/>
                        </a:rPr>
                        <a:t>NFR5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1" i="0">
                          <a:solidFill>
                            <a:srgbClr val="000000"/>
                          </a:solidFill>
                          <a:latin typeface="Times New Roman"/>
                        </a:rPr>
                        <a:t>Safety: </a:t>
                      </a:r>
                      <a:r>
                        <a:rPr sz="1050" b="0" i="0">
                          <a:solidFill>
                            <a:srgbClr val="000000"/>
                          </a:solidFill>
                          <a:latin typeface="Times New Roman"/>
                        </a:rPr>
                        <a:t>never shown as a diagnosis; disclaimer on every result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402336">
                <a:tc>
                  <a:txBody>
                    <a:bodyPr wrap="square"/>
                    <a:lstStyle/>
                    <a:p>
                      <a:r>
                        <a:rPr sz="1050" b="1" i="0">
                          <a:solidFill>
                            <a:srgbClr val="7B2D1E"/>
                          </a:solidFill>
                          <a:latin typeface="Times New Roman"/>
                        </a:rPr>
                        <a:t>NFR6</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1" i="0">
                          <a:solidFill>
                            <a:srgbClr val="000000"/>
                          </a:solidFill>
                          <a:latin typeface="Times New Roman"/>
                        </a:rPr>
                        <a:t>Maintainability: </a:t>
                      </a:r>
                      <a:r>
                        <a:rPr sz="1050" b="0" i="0">
                          <a:solidFill>
                            <a:srgbClr val="000000"/>
                          </a:solidFill>
                          <a:latin typeface="Times New Roman"/>
                        </a:rPr>
                        <a:t>one .env config file; automated test suite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bl>
          </a:graphicData>
        </a:graphic>
      </p:graphicFrame>
      <p:sp>
        <p:nvSpPr>
          <p:cNvPr id="8" name="Rounded Rectangle 7"/>
          <p:cNvSpPr/>
          <p:nvPr/>
        </p:nvSpPr>
        <p:spPr>
          <a:xfrm>
            <a:off x="292608" y="4069080"/>
            <a:ext cx="8558784" cy="658368"/>
          </a:xfrm>
          <a:prstGeom prst="roundRect">
            <a:avLst>
              <a:gd name="adj" fmla="val 6000"/>
            </a:avLst>
          </a:prstGeom>
          <a:solidFill>
            <a:srgbClr val="FCE5CD"/>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069080"/>
            <a:ext cx="8229600" cy="658368"/>
          </a:xfrm>
          <a:prstGeom prst="rect">
            <a:avLst/>
          </a:prstGeom>
          <a:noFill/>
        </p:spPr>
        <p:txBody>
          <a:bodyPr wrap="square" lIns="0" rIns="0" tIns="0" bIns="0" anchor="ctr">
            <a:spAutoFit/>
          </a:bodyPr>
          <a:lstStyle/>
          <a:p>
            <a:pPr algn="l"/>
            <a:r>
              <a:rPr sz="1200" b="1" i="0">
                <a:solidFill>
                  <a:srgbClr val="7B2D1E"/>
                </a:solidFill>
                <a:latin typeface="Times New Roman"/>
              </a:rPr>
              <a:t>From the literature review:  </a:t>
            </a:r>
            <a:r>
              <a:rPr sz="1200" b="0" i="0">
                <a:solidFill>
                  <a:srgbClr val="000000"/>
                </a:solidFill>
                <a:latin typeface="Times New Roman"/>
              </a:rPr>
              <a:t>prior work covers one modality, gives no explanation and never checks the input, which led to FR3–FR5 (input guards) and FR7–FR9 (explainability).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Design Principles, Assumptions &amp; Constraints</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sp>
        <p:nvSpPr>
          <p:cNvPr id="6" name="TextBox 5"/>
          <p:cNvSpPr txBox="1"/>
          <p:nvPr/>
        </p:nvSpPr>
        <p:spPr>
          <a:xfrm>
            <a:off x="292608" y="804672"/>
            <a:ext cx="5303520" cy="274320"/>
          </a:xfrm>
          <a:prstGeom prst="rect">
            <a:avLst/>
          </a:prstGeom>
          <a:noFill/>
        </p:spPr>
        <p:txBody>
          <a:bodyPr wrap="square" lIns="0" rIns="0" tIns="0" bIns="0" anchor="t">
            <a:spAutoFit/>
          </a:bodyPr>
          <a:lstStyle/>
          <a:p>
            <a:pPr algn="l"/>
            <a:r>
              <a:rPr sz="1300" b="1" i="0">
                <a:solidFill>
                  <a:srgbClr val="7B2D1E"/>
                </a:solidFill>
                <a:latin typeface="Times New Roman"/>
              </a:rPr>
              <a:t>Design principles and why we chose them</a:t>
            </a:r>
          </a:p>
        </p:txBody>
      </p:sp>
      <p:sp>
        <p:nvSpPr>
          <p:cNvPr id="7" name="Oval 6"/>
          <p:cNvSpPr/>
          <p:nvPr/>
        </p:nvSpPr>
        <p:spPr>
          <a:xfrm>
            <a:off x="292608" y="1179576"/>
            <a:ext cx="329184" cy="329184"/>
          </a:xfrm>
          <a:prstGeom prst="ellipse">
            <a:avLst/>
          </a:prstGeom>
          <a:solidFill>
            <a:srgbClr val="7B2D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rPr>
              <a:t>1</a:t>
            </a:r>
          </a:p>
        </p:txBody>
      </p:sp>
      <p:sp>
        <p:nvSpPr>
          <p:cNvPr id="8" name="TextBox 7"/>
          <p:cNvSpPr txBox="1"/>
          <p:nvPr/>
        </p:nvSpPr>
        <p:spPr>
          <a:xfrm>
            <a:off x="749808" y="1152144"/>
            <a:ext cx="4846320" cy="676656"/>
          </a:xfrm>
          <a:prstGeom prst="rect">
            <a:avLst/>
          </a:prstGeom>
          <a:noFill/>
        </p:spPr>
        <p:txBody>
          <a:bodyPr wrap="square" lIns="0" rIns="0" tIns="0" bIns="0" anchor="t">
            <a:spAutoFit/>
          </a:bodyPr>
          <a:lstStyle/>
          <a:p>
            <a:pPr algn="l"/>
            <a:r>
              <a:rPr sz="1200" b="1" i="0">
                <a:solidFill>
                  <a:srgbClr val="7B2D1E"/>
                </a:solidFill>
                <a:latin typeface="Times New Roman"/>
              </a:rPr>
              <a:t>Refuse rather than guess</a:t>
            </a:r>
          </a:p>
          <a:p>
            <a:pPr algn="l"/>
            <a:r>
              <a:rPr sz="1100" b="0" i="0">
                <a:solidFill>
                  <a:srgbClr val="000000"/>
                </a:solidFill>
                <a:latin typeface="Times New Roman"/>
              </a:rPr>
              <a:t>A plain classifier labels anything: a random photo scored 92% “X-ray”. Three gates and an OOD check give it a “none of the above”.</a:t>
            </a:r>
          </a:p>
        </p:txBody>
      </p:sp>
      <p:sp>
        <p:nvSpPr>
          <p:cNvPr id="9" name="Oval 8"/>
          <p:cNvSpPr/>
          <p:nvPr/>
        </p:nvSpPr>
        <p:spPr>
          <a:xfrm>
            <a:off x="292608" y="1911095"/>
            <a:ext cx="329184" cy="329184"/>
          </a:xfrm>
          <a:prstGeom prst="ellipse">
            <a:avLst/>
          </a:prstGeom>
          <a:solidFill>
            <a:srgbClr val="7B2D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rPr>
              <a:t>2</a:t>
            </a:r>
          </a:p>
        </p:txBody>
      </p:sp>
      <p:sp>
        <p:nvSpPr>
          <p:cNvPr id="10" name="TextBox 9"/>
          <p:cNvSpPr txBox="1"/>
          <p:nvPr/>
        </p:nvSpPr>
        <p:spPr>
          <a:xfrm>
            <a:off x="749808" y="1883664"/>
            <a:ext cx="4846320" cy="676656"/>
          </a:xfrm>
          <a:prstGeom prst="rect">
            <a:avLst/>
          </a:prstGeom>
          <a:noFill/>
        </p:spPr>
        <p:txBody>
          <a:bodyPr wrap="square" lIns="0" rIns="0" tIns="0" bIns="0" anchor="t">
            <a:spAutoFit/>
          </a:bodyPr>
          <a:lstStyle/>
          <a:p>
            <a:pPr algn="l"/>
            <a:r>
              <a:rPr sz="1200" b="1" i="0">
                <a:solidFill>
                  <a:srgbClr val="7B2D1E"/>
                </a:solidFill>
                <a:latin typeface="Times New Roman"/>
              </a:rPr>
              <a:t>Explain every answer</a:t>
            </a:r>
          </a:p>
          <a:p>
            <a:pPr algn="l"/>
            <a:r>
              <a:rPr sz="1100" b="0" i="0">
                <a:solidFill>
                  <a:srgbClr val="000000"/>
                </a:solidFill>
                <a:latin typeface="Times New Roman"/>
              </a:rPr>
              <a:t>Every result carries a Grad-CAM heatmap, all class probabilities, a low-confidence warning and a plain report.</a:t>
            </a:r>
          </a:p>
        </p:txBody>
      </p:sp>
      <p:sp>
        <p:nvSpPr>
          <p:cNvPr id="11" name="Oval 10"/>
          <p:cNvSpPr/>
          <p:nvPr/>
        </p:nvSpPr>
        <p:spPr>
          <a:xfrm>
            <a:off x="292608" y="2642616"/>
            <a:ext cx="329184" cy="329184"/>
          </a:xfrm>
          <a:prstGeom prst="ellipse">
            <a:avLst/>
          </a:prstGeom>
          <a:solidFill>
            <a:srgbClr val="7B2D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rPr>
              <a:t>3</a:t>
            </a:r>
          </a:p>
        </p:txBody>
      </p:sp>
      <p:sp>
        <p:nvSpPr>
          <p:cNvPr id="12" name="TextBox 11"/>
          <p:cNvSpPr txBox="1"/>
          <p:nvPr/>
        </p:nvSpPr>
        <p:spPr>
          <a:xfrm>
            <a:off x="749808" y="2615184"/>
            <a:ext cx="4846320" cy="676656"/>
          </a:xfrm>
          <a:prstGeom prst="rect">
            <a:avLst/>
          </a:prstGeom>
          <a:noFill/>
        </p:spPr>
        <p:txBody>
          <a:bodyPr wrap="square" lIns="0" rIns="0" tIns="0" bIns="0" anchor="t">
            <a:spAutoFit/>
          </a:bodyPr>
          <a:lstStyle/>
          <a:p>
            <a:pPr algn="l"/>
            <a:r>
              <a:rPr sz="1200" b="1" i="0">
                <a:solidFill>
                  <a:srgbClr val="7B2D1E"/>
                </a:solidFill>
                <a:latin typeface="Times New Roman"/>
              </a:rPr>
              <a:t>Serve what was measured</a:t>
            </a:r>
          </a:p>
          <a:p>
            <a:pPr algn="l"/>
            <a:r>
              <a:rPr sz="1100" b="0" i="0">
                <a:solidFill>
                  <a:srgbClr val="000000"/>
                </a:solidFill>
                <a:latin typeface="Times New Roman"/>
              </a:rPr>
              <a:t>Checkpoints store their validation metric and are re-scored at start-up; this caught one real data mismatch.</a:t>
            </a:r>
          </a:p>
        </p:txBody>
      </p:sp>
      <p:sp>
        <p:nvSpPr>
          <p:cNvPr id="13" name="Oval 12"/>
          <p:cNvSpPr/>
          <p:nvPr/>
        </p:nvSpPr>
        <p:spPr>
          <a:xfrm>
            <a:off x="292608" y="3374136"/>
            <a:ext cx="329184" cy="329184"/>
          </a:xfrm>
          <a:prstGeom prst="ellipse">
            <a:avLst/>
          </a:prstGeom>
          <a:solidFill>
            <a:srgbClr val="7B2D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rPr>
              <a:t>4</a:t>
            </a:r>
          </a:p>
        </p:txBody>
      </p:sp>
      <p:sp>
        <p:nvSpPr>
          <p:cNvPr id="14" name="TextBox 13"/>
          <p:cNvSpPr txBox="1"/>
          <p:nvPr/>
        </p:nvSpPr>
        <p:spPr>
          <a:xfrm>
            <a:off x="749808" y="3346704"/>
            <a:ext cx="4846320" cy="676656"/>
          </a:xfrm>
          <a:prstGeom prst="rect">
            <a:avLst/>
          </a:prstGeom>
          <a:noFill/>
        </p:spPr>
        <p:txBody>
          <a:bodyPr wrap="square" lIns="0" rIns="0" tIns="0" bIns="0" anchor="t">
            <a:spAutoFit/>
          </a:bodyPr>
          <a:lstStyle/>
          <a:p>
            <a:pPr algn="l"/>
            <a:r>
              <a:rPr sz="1200" b="1" i="0">
                <a:solidFill>
                  <a:srgbClr val="7B2D1E"/>
                </a:solidFill>
                <a:latin typeface="Times New Roman"/>
              </a:rPr>
              <a:t>Transfer from relevant data</a:t>
            </a:r>
          </a:p>
          <a:p>
            <a:pPr algn="l"/>
            <a:r>
              <a:rPr sz="1100" b="0" i="0">
                <a:solidFill>
                  <a:srgbClr val="000000"/>
                </a:solidFill>
                <a:latin typeface="Times New Roman"/>
              </a:rPr>
              <a:t>Chest-X-ray-pretrained DenseNet-121 and a class-weighted loss (TB is 3% of data) reach 96.5% validation accuracy.</a:t>
            </a:r>
          </a:p>
        </p:txBody>
      </p:sp>
      <p:sp>
        <p:nvSpPr>
          <p:cNvPr id="15" name="Oval 14"/>
          <p:cNvSpPr/>
          <p:nvPr/>
        </p:nvSpPr>
        <p:spPr>
          <a:xfrm>
            <a:off x="292608" y="4105656"/>
            <a:ext cx="329184" cy="329184"/>
          </a:xfrm>
          <a:prstGeom prst="ellipse">
            <a:avLst/>
          </a:prstGeom>
          <a:solidFill>
            <a:srgbClr val="7B2D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Times New Roman"/>
              </a:rPr>
              <a:t>5</a:t>
            </a:r>
          </a:p>
        </p:txBody>
      </p:sp>
      <p:sp>
        <p:nvSpPr>
          <p:cNvPr id="16" name="TextBox 15"/>
          <p:cNvSpPr txBox="1"/>
          <p:nvPr/>
        </p:nvSpPr>
        <p:spPr>
          <a:xfrm>
            <a:off x="749808" y="4078224"/>
            <a:ext cx="4846320" cy="676656"/>
          </a:xfrm>
          <a:prstGeom prst="rect">
            <a:avLst/>
          </a:prstGeom>
          <a:noFill/>
        </p:spPr>
        <p:txBody>
          <a:bodyPr wrap="square" lIns="0" rIns="0" tIns="0" bIns="0" anchor="t">
            <a:spAutoFit/>
          </a:bodyPr>
          <a:lstStyle/>
          <a:p>
            <a:pPr algn="l"/>
            <a:r>
              <a:rPr sz="1200" b="1" i="0">
                <a:solidFill>
                  <a:srgbClr val="7B2D1E"/>
                </a:solidFill>
                <a:latin typeface="Times New Roman"/>
              </a:rPr>
              <a:t>Safety by construction</a:t>
            </a:r>
          </a:p>
          <a:p>
            <a:pPr algn="l"/>
            <a:r>
              <a:rPr sz="1100" b="0" i="0">
                <a:solidFill>
                  <a:srgbClr val="000000"/>
                </a:solidFill>
                <a:latin typeface="Times New Roman"/>
              </a:rPr>
              <a:t>Prompts forbid diagnosis and treatment advice; the same disclaimer appears from the LLM or the template.</a:t>
            </a:r>
          </a:p>
        </p:txBody>
      </p:sp>
      <p:sp>
        <p:nvSpPr>
          <p:cNvPr id="17" name="Rounded Rectangle 16"/>
          <p:cNvSpPr/>
          <p:nvPr/>
        </p:nvSpPr>
        <p:spPr>
          <a:xfrm>
            <a:off x="5852160" y="822960"/>
            <a:ext cx="2999232" cy="178308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1888" y="896112"/>
            <a:ext cx="2779776" cy="274320"/>
          </a:xfrm>
          <a:prstGeom prst="rect">
            <a:avLst/>
          </a:prstGeom>
          <a:noFill/>
        </p:spPr>
        <p:txBody>
          <a:bodyPr wrap="square" lIns="0" rIns="0" tIns="0" bIns="0" anchor="t">
            <a:spAutoFit/>
          </a:bodyPr>
          <a:lstStyle/>
          <a:p>
            <a:pPr algn="l"/>
            <a:r>
              <a:rPr sz="1250" b="1" i="0">
                <a:solidFill>
                  <a:srgbClr val="7B2D1E"/>
                </a:solidFill>
                <a:latin typeface="Times New Roman"/>
              </a:rPr>
              <a:t>Assumptions</a:t>
            </a:r>
          </a:p>
        </p:txBody>
      </p:sp>
      <p:sp>
        <p:nvSpPr>
          <p:cNvPr id="19" name="TextBox 18"/>
          <p:cNvSpPr txBox="1"/>
          <p:nvPr/>
        </p:nvSpPr>
        <p:spPr>
          <a:xfrm>
            <a:off x="5961888" y="1207008"/>
            <a:ext cx="2779776" cy="1325880"/>
          </a:xfrm>
          <a:prstGeom prst="rect">
            <a:avLst/>
          </a:prstGeom>
          <a:noFill/>
        </p:spPr>
        <p:txBody>
          <a:bodyPr wrap="square" lIns="0" rIns="0" tIns="0" bIns="0" anchor="t">
            <a:spAutoFit/>
          </a:bodyPr>
          <a:lstStyle/>
          <a:p>
            <a:pPr algn="l" marL="146304" indent="-146304">
              <a:spcAft>
                <a:spcPts val="300"/>
              </a:spcAft>
              <a:buChar char="•"/>
            </a:pPr>
            <a:r>
              <a:rPr sz="1100" b="0" i="0">
                <a:solidFill>
                  <a:srgbClr val="000000"/>
                </a:solidFill>
                <a:latin typeface="Times New Roman"/>
              </a:rPr>
              <a:t>Frontal X-ray or axial CT slice of diagnostic quality</a:t>
            </a:r>
          </a:p>
          <a:p>
            <a:pPr algn="l" marL="146304" indent="-146304">
              <a:spcAft>
                <a:spcPts val="300"/>
              </a:spcAft>
              <a:buChar char="•"/>
            </a:pPr>
            <a:r>
              <a:rPr sz="1100" b="0" i="0">
                <a:solidFill>
                  <a:srgbClr val="000000"/>
                </a:solidFill>
                <a:latin typeface="Times New Roman"/>
              </a:rPr>
              <a:t>One 2D image (PNG/JPEG) per request</a:t>
            </a:r>
          </a:p>
          <a:p>
            <a:pPr algn="l" marL="146304" indent="-146304">
              <a:spcAft>
                <a:spcPts val="300"/>
              </a:spcAft>
              <a:buChar char="•"/>
            </a:pPr>
            <a:r>
              <a:rPr sz="1100" b="0" i="0">
                <a:solidFill>
                  <a:srgbClr val="000000"/>
                </a:solidFill>
                <a:latin typeface="Times New Roman"/>
              </a:rPr>
              <a:t>Users can use a web browser</a:t>
            </a:r>
          </a:p>
          <a:p>
            <a:pPr algn="l" marL="146304" indent="-146304">
              <a:spcAft>
                <a:spcPts val="300"/>
              </a:spcAft>
              <a:buChar char="•"/>
            </a:pPr>
            <a:r>
              <a:rPr sz="1100" b="0" i="0">
                <a:solidFill>
                  <a:srgbClr val="000000"/>
                </a:solidFill>
                <a:latin typeface="Times New Roman"/>
              </a:rPr>
              <a:t>A clinician makes the final decision</a:t>
            </a:r>
          </a:p>
        </p:txBody>
      </p:sp>
      <p:sp>
        <p:nvSpPr>
          <p:cNvPr id="20" name="Rounded Rectangle 19"/>
          <p:cNvSpPr/>
          <p:nvPr/>
        </p:nvSpPr>
        <p:spPr>
          <a:xfrm>
            <a:off x="5852160" y="2743200"/>
            <a:ext cx="2999232" cy="201168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61888" y="2816352"/>
            <a:ext cx="2779776" cy="274320"/>
          </a:xfrm>
          <a:prstGeom prst="rect">
            <a:avLst/>
          </a:prstGeom>
          <a:noFill/>
        </p:spPr>
        <p:txBody>
          <a:bodyPr wrap="square" lIns="0" rIns="0" tIns="0" bIns="0" anchor="t">
            <a:spAutoFit/>
          </a:bodyPr>
          <a:lstStyle/>
          <a:p>
            <a:pPr algn="l"/>
            <a:r>
              <a:rPr sz="1250" b="1" i="0">
                <a:solidFill>
                  <a:srgbClr val="7B2D1E"/>
                </a:solidFill>
                <a:latin typeface="Times New Roman"/>
              </a:rPr>
              <a:t>Constraints</a:t>
            </a:r>
          </a:p>
        </p:txBody>
      </p:sp>
      <p:sp>
        <p:nvSpPr>
          <p:cNvPr id="22" name="TextBox 21"/>
          <p:cNvSpPr txBox="1"/>
          <p:nvPr/>
        </p:nvSpPr>
        <p:spPr>
          <a:xfrm>
            <a:off x="5961888" y="3127248"/>
            <a:ext cx="2779776" cy="1554480"/>
          </a:xfrm>
          <a:prstGeom prst="rect">
            <a:avLst/>
          </a:prstGeom>
          <a:noFill/>
        </p:spPr>
        <p:txBody>
          <a:bodyPr wrap="square" lIns="0" rIns="0" tIns="0" bIns="0" anchor="t">
            <a:spAutoFit/>
          </a:bodyPr>
          <a:lstStyle/>
          <a:p>
            <a:pPr algn="l" marL="146304" indent="-146304">
              <a:spcAft>
                <a:spcPts val="300"/>
              </a:spcAft>
              <a:buChar char="•"/>
            </a:pPr>
            <a:r>
              <a:rPr sz="1100" b="0" i="0">
                <a:solidFill>
                  <a:srgbClr val="000000"/>
                </a:solidFill>
                <a:latin typeface="Times New Roman"/>
              </a:rPr>
              <a:t>Public data only: 19,217 X-ray, 10,036 CT images</a:t>
            </a:r>
          </a:p>
          <a:p>
            <a:pPr algn="l" marL="146304" indent="-146304">
              <a:spcAft>
                <a:spcPts val="300"/>
              </a:spcAft>
              <a:buChar char="•"/>
            </a:pPr>
            <a:r>
              <a:rPr sz="1100" b="0" i="0">
                <a:solidFill>
                  <a:srgbClr val="000000"/>
                </a:solidFill>
                <a:latin typeface="Times New Roman"/>
              </a:rPr>
              <a:t>Must run on a laptop CPU</a:t>
            </a:r>
          </a:p>
          <a:p>
            <a:pPr algn="l" marL="146304" indent="-146304">
              <a:spcAft>
                <a:spcPts val="300"/>
              </a:spcAft>
              <a:buChar char="•"/>
            </a:pPr>
            <a:r>
              <a:rPr sz="1100" b="0" i="0">
                <a:solidFill>
                  <a:srgbClr val="000000"/>
                </a:solidFill>
                <a:latin typeface="Times New Roman"/>
              </a:rPr>
              <a:t>Not a certified medical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System Architecture (Three-Tier)</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sp>
        <p:nvSpPr>
          <p:cNvPr id="5" name="Shape 2"/>
          <p:cNvSpPr/>
          <p:nvPr/>
        </p:nvSpPr>
        <p:spPr>
          <a:xfrm>
            <a:off x="1572768" y="841248"/>
            <a:ext cx="7278624" cy="2606040"/>
          </a:xfrm>
          <a:prstGeom prst="roundRect">
            <a:avLst>
              <a:gd name="adj" fmla="val 2105"/>
            </a:avLst>
          </a:prstGeom>
          <a:solidFill>
            <a:srgbClr val="FBF4F2"/>
          </a:solidFill>
          <a:ln w="9525">
            <a:solidFill>
              <a:srgbClr val="D8B5AB"/>
            </a:solidFill>
            <a:prstDash val="solid"/>
          </a:ln>
        </p:spPr>
        <p:txBody>
          <a:bodyPr/>
          <a:p/>
        </p:txBody>
      </p:sp>
      <p:sp>
        <p:nvSpPr>
          <p:cNvPr id="6" name="Text 3"/>
          <p:cNvSpPr txBox="1"/>
          <p:nvPr/>
        </p:nvSpPr>
        <p:spPr>
          <a:xfrm>
            <a:off x="1709928" y="896112"/>
            <a:ext cx="3657600" cy="274320"/>
          </a:xfrm>
          <a:prstGeom prst="rect">
            <a:avLst/>
          </a:prstGeom>
          <a:noFill/>
          <a:ln/>
        </p:spPr>
        <p:txBody>
          <a:bodyPr wrap="square" lIns="0" tIns="0" rIns="0" bIns="0" rtlCol="0" anchor="ctr"/>
          <a:lstStyle/>
          <a:p>
            <a:pPr indent="0" marL="0">
              <a:buNone/>
            </a:pPr>
            <a:r>
              <a:rPr lang="en-US" sz="1300" b="1" dirty="0">
                <a:solidFill>
                  <a:srgbClr val="7B2D1E"/>
                </a:solidFill>
                <a:latin typeface="Garamond" pitchFamily="34" charset="0"/>
                <a:ea typeface="Garamond" pitchFamily="34" charset="-122"/>
                <a:cs typeface="Garamond" pitchFamily="34" charset="-120"/>
              </a:rPr>
              <a:t>Application tier — FastAPI back end</a:t>
            </a:r>
            <a:endParaRPr lang="en-US" sz="1300" dirty="0"/>
          </a:p>
        </p:txBody>
      </p:sp>
      <p:sp>
        <p:nvSpPr>
          <p:cNvPr id="7" name="Shape 4"/>
          <p:cNvSpPr/>
          <p:nvPr/>
        </p:nvSpPr>
        <p:spPr>
          <a:xfrm>
            <a:off x="1709928" y="1252728"/>
            <a:ext cx="1554480" cy="822960"/>
          </a:xfrm>
          <a:prstGeom prst="roundRect">
            <a:avLst>
              <a:gd name="adj" fmla="val 7778"/>
            </a:avLst>
          </a:prstGeom>
          <a:solidFill>
            <a:srgbClr val="FCE4E1"/>
          </a:solidFill>
          <a:ln w="28575">
            <a:solidFill>
              <a:srgbClr val="B01E1E"/>
            </a:solidFill>
            <a:prstDash val="solid"/>
          </a:ln>
        </p:spPr>
        <p:txBody>
          <a:bodyPr/>
          <a:p/>
        </p:txBody>
      </p:sp>
      <p:sp>
        <p:nvSpPr>
          <p:cNvPr id="8" name="Text 5"/>
          <p:cNvSpPr txBox="1"/>
          <p:nvPr/>
        </p:nvSpPr>
        <p:spPr>
          <a:xfrm>
            <a:off x="1755648" y="1252728"/>
            <a:ext cx="1463040" cy="822960"/>
          </a:xfrm>
          <a:prstGeom prst="rect">
            <a:avLst/>
          </a:prstGeom>
          <a:noFill/>
          <a:ln/>
        </p:spPr>
        <p:txBody>
          <a:bodyPr wrap="square" lIns="0" tIns="0" rIns="0" bIns="0" rtlCol="0" anchor="ctr"/>
          <a:lstStyle/>
          <a:p>
            <a:pPr algn="ctr" indent="0" marL="0">
              <a:buNone/>
            </a:pPr>
            <a:r>
              <a:rPr lang="en-US" sz="1250" b="1" dirty="0">
                <a:solidFill>
                  <a:srgbClr val="7B2D1E"/>
                </a:solidFill>
                <a:latin typeface="Garamond" pitchFamily="34" charset="0"/>
                <a:ea typeface="Garamond" pitchFamily="34" charset="-122"/>
                <a:cs typeface="Garamond" pitchFamily="34" charset="-120"/>
              </a:rPr>
              <a:t>Input checks</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Size, blank, colour</a:t>
            </a:r>
            <a:endParaRPr lang="en-US" sz="1250" dirty="0"/>
          </a:p>
        </p:txBody>
      </p:sp>
      <p:sp>
        <p:nvSpPr>
          <p:cNvPr id="9" name="Shape 6"/>
          <p:cNvSpPr/>
          <p:nvPr/>
        </p:nvSpPr>
        <p:spPr>
          <a:xfrm>
            <a:off x="3526536" y="1252728"/>
            <a:ext cx="1554480" cy="822960"/>
          </a:xfrm>
          <a:prstGeom prst="roundRect">
            <a:avLst>
              <a:gd name="adj" fmla="val 7778"/>
            </a:avLst>
          </a:prstGeom>
          <a:solidFill>
            <a:srgbClr val="FCE4E1"/>
          </a:solidFill>
          <a:ln w="28575">
            <a:solidFill>
              <a:srgbClr val="B01E1E"/>
            </a:solidFill>
            <a:prstDash val="solid"/>
          </a:ln>
        </p:spPr>
        <p:txBody>
          <a:bodyPr/>
          <a:p/>
        </p:txBody>
      </p:sp>
      <p:sp>
        <p:nvSpPr>
          <p:cNvPr id="10" name="Text 7"/>
          <p:cNvSpPr txBox="1"/>
          <p:nvPr/>
        </p:nvSpPr>
        <p:spPr>
          <a:xfrm>
            <a:off x="3572256" y="1252728"/>
            <a:ext cx="1463040" cy="822960"/>
          </a:xfrm>
          <a:prstGeom prst="rect">
            <a:avLst/>
          </a:prstGeom>
          <a:noFill/>
          <a:ln/>
        </p:spPr>
        <p:txBody>
          <a:bodyPr wrap="square" lIns="0" tIns="0" rIns="0" bIns="0" rtlCol="0" anchor="ctr"/>
          <a:lstStyle/>
          <a:p>
            <a:pPr algn="ctr" indent="0" marL="0">
              <a:buNone/>
            </a:pPr>
            <a:r>
              <a:rPr lang="en-US" sz="1250" b="1" dirty="0">
                <a:solidFill>
                  <a:srgbClr val="7B2D1E"/>
                </a:solidFill>
                <a:latin typeface="Garamond" pitchFamily="34" charset="0"/>
                <a:ea typeface="Garamond" pitchFamily="34" charset="-122"/>
                <a:cs typeface="Garamond" pitchFamily="34" charset="-120"/>
              </a:rPr>
              <a:t>Sanity gate</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Is it a scan?</a:t>
            </a:r>
            <a:endParaRPr lang="en-US" sz="1250" dirty="0"/>
          </a:p>
        </p:txBody>
      </p:sp>
      <p:sp>
        <p:nvSpPr>
          <p:cNvPr id="11" name="Shape 8"/>
          <p:cNvSpPr/>
          <p:nvPr/>
        </p:nvSpPr>
        <p:spPr>
          <a:xfrm>
            <a:off x="5343144" y="1252728"/>
            <a:ext cx="1554480" cy="822960"/>
          </a:xfrm>
          <a:prstGeom prst="roundRect">
            <a:avLst>
              <a:gd name="adj" fmla="val 7778"/>
            </a:avLst>
          </a:prstGeom>
          <a:solidFill>
            <a:srgbClr val="FCE4E1"/>
          </a:solidFill>
          <a:ln w="28575">
            <a:solidFill>
              <a:srgbClr val="B01E1E"/>
            </a:solidFill>
            <a:prstDash val="solid"/>
          </a:ln>
        </p:spPr>
        <p:txBody>
          <a:bodyPr/>
          <a:p/>
        </p:txBody>
      </p:sp>
      <p:sp>
        <p:nvSpPr>
          <p:cNvPr id="12" name="Text 9"/>
          <p:cNvSpPr txBox="1"/>
          <p:nvPr/>
        </p:nvSpPr>
        <p:spPr>
          <a:xfrm>
            <a:off x="5388864" y="1252728"/>
            <a:ext cx="1463040" cy="822960"/>
          </a:xfrm>
          <a:prstGeom prst="rect">
            <a:avLst/>
          </a:prstGeom>
          <a:noFill/>
          <a:ln/>
        </p:spPr>
        <p:txBody>
          <a:bodyPr wrap="square" lIns="0" tIns="0" rIns="0" bIns="0" rtlCol="0" anchor="ctr"/>
          <a:lstStyle/>
          <a:p>
            <a:pPr algn="ctr" indent="0" marL="0">
              <a:buNone/>
            </a:pPr>
            <a:r>
              <a:rPr lang="en-US" sz="1250" b="1" dirty="0">
                <a:solidFill>
                  <a:srgbClr val="7B2D1E"/>
                </a:solidFill>
                <a:latin typeface="Garamond" pitchFamily="34" charset="0"/>
                <a:ea typeface="Garamond" pitchFamily="34" charset="-122"/>
                <a:cs typeface="Garamond" pitchFamily="34" charset="-120"/>
              </a:rPr>
              <a:t>Modality gate</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X-ray or CT?</a:t>
            </a:r>
            <a:endParaRPr lang="en-US" sz="1250" dirty="0"/>
          </a:p>
        </p:txBody>
      </p:sp>
      <p:sp>
        <p:nvSpPr>
          <p:cNvPr id="13" name="Shape 10"/>
          <p:cNvSpPr/>
          <p:nvPr/>
        </p:nvSpPr>
        <p:spPr>
          <a:xfrm>
            <a:off x="7159752" y="1252728"/>
            <a:ext cx="1554480" cy="822960"/>
          </a:xfrm>
          <a:prstGeom prst="roundRect">
            <a:avLst>
              <a:gd name="adj" fmla="val 7778"/>
            </a:avLst>
          </a:prstGeom>
          <a:solidFill>
            <a:srgbClr val="FFFFFF"/>
          </a:solidFill>
          <a:ln w="9525">
            <a:solidFill>
              <a:srgbClr val="7B2D1E"/>
            </a:solidFill>
            <a:prstDash val="solid"/>
          </a:ln>
        </p:spPr>
        <p:txBody>
          <a:bodyPr/>
          <a:p/>
        </p:txBody>
      </p:sp>
      <p:sp>
        <p:nvSpPr>
          <p:cNvPr id="14" name="Text 11"/>
          <p:cNvSpPr txBox="1"/>
          <p:nvPr/>
        </p:nvSpPr>
        <p:spPr>
          <a:xfrm>
            <a:off x="7205472" y="1252728"/>
            <a:ext cx="1463040" cy="822960"/>
          </a:xfrm>
          <a:prstGeom prst="rect">
            <a:avLst/>
          </a:prstGeom>
          <a:noFill/>
          <a:ln/>
        </p:spPr>
        <p:txBody>
          <a:bodyPr wrap="square" lIns="0" tIns="0" rIns="0" bIns="0" rtlCol="0" anchor="ctr"/>
          <a:lstStyle/>
          <a:p>
            <a:pPr algn="ctr" indent="0" marL="0">
              <a:buNone/>
            </a:pPr>
            <a:r>
              <a:rPr lang="en-US" sz="1250" b="1" dirty="0">
                <a:solidFill>
                  <a:srgbClr val="7B2D1E"/>
                </a:solidFill>
                <a:latin typeface="Garamond" pitchFamily="34" charset="0"/>
                <a:ea typeface="Garamond" pitchFamily="34" charset="-122"/>
                <a:cs typeface="Garamond" pitchFamily="34" charset="-120"/>
              </a:rPr>
              <a:t>Lung crop</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U-Net, X-ray only</a:t>
            </a:r>
            <a:endParaRPr lang="en-US" sz="1250" dirty="0"/>
          </a:p>
        </p:txBody>
      </p:sp>
      <p:sp>
        <p:nvSpPr>
          <p:cNvPr id="15" name="Shape 12"/>
          <p:cNvSpPr/>
          <p:nvPr/>
        </p:nvSpPr>
        <p:spPr>
          <a:xfrm>
            <a:off x="1709928" y="2441448"/>
            <a:ext cx="1554480" cy="822960"/>
          </a:xfrm>
          <a:prstGeom prst="roundRect">
            <a:avLst>
              <a:gd name="adj" fmla="val 7778"/>
            </a:avLst>
          </a:prstGeom>
          <a:solidFill>
            <a:srgbClr val="F2F2F2"/>
          </a:solidFill>
          <a:ln w="9525">
            <a:solidFill>
              <a:srgbClr val="A6A6A6"/>
            </a:solidFill>
            <a:prstDash val="solid"/>
          </a:ln>
        </p:spPr>
        <p:txBody>
          <a:bodyPr/>
          <a:p/>
        </p:txBody>
      </p:sp>
      <p:sp>
        <p:nvSpPr>
          <p:cNvPr id="16" name="Text 13"/>
          <p:cNvSpPr txBox="1"/>
          <p:nvPr/>
        </p:nvSpPr>
        <p:spPr>
          <a:xfrm>
            <a:off x="1755648" y="2441448"/>
            <a:ext cx="1463040" cy="822960"/>
          </a:xfrm>
          <a:prstGeom prst="rect">
            <a:avLst/>
          </a:prstGeom>
          <a:noFill/>
          <a:ln/>
        </p:spPr>
        <p:txBody>
          <a:bodyPr wrap="square" lIns="0" tIns="0" rIns="0" bIns="0" rtlCol="0" anchor="ctr"/>
          <a:lstStyle/>
          <a:p>
            <a:pPr algn="ctr" indent="0" marL="0">
              <a:buNone/>
            </a:pPr>
            <a:r>
              <a:rPr lang="en-US" sz="1250" b="1" dirty="0">
                <a:solidFill>
                  <a:srgbClr val="000000"/>
                </a:solidFill>
                <a:latin typeface="Garamond" pitchFamily="34" charset="0"/>
                <a:ea typeface="Garamond" pitchFamily="34" charset="-122"/>
                <a:cs typeface="Garamond" pitchFamily="34" charset="-120"/>
              </a:rPr>
              <a:t>Save scan</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SQLite history</a:t>
            </a:r>
            <a:endParaRPr lang="en-US" sz="1250" dirty="0"/>
          </a:p>
        </p:txBody>
      </p:sp>
      <p:sp>
        <p:nvSpPr>
          <p:cNvPr id="17" name="Shape 14"/>
          <p:cNvSpPr/>
          <p:nvPr/>
        </p:nvSpPr>
        <p:spPr>
          <a:xfrm>
            <a:off x="3526536" y="2441448"/>
            <a:ext cx="1554480" cy="822960"/>
          </a:xfrm>
          <a:prstGeom prst="roundRect">
            <a:avLst>
              <a:gd name="adj" fmla="val 7778"/>
            </a:avLst>
          </a:prstGeom>
          <a:solidFill>
            <a:srgbClr val="FFFFFF"/>
          </a:solidFill>
          <a:ln w="9525">
            <a:solidFill>
              <a:srgbClr val="7B2D1E"/>
            </a:solidFill>
            <a:prstDash val="solid"/>
          </a:ln>
        </p:spPr>
        <p:txBody>
          <a:bodyPr/>
          <a:p/>
        </p:txBody>
      </p:sp>
      <p:sp>
        <p:nvSpPr>
          <p:cNvPr id="18" name="Text 15"/>
          <p:cNvSpPr txBox="1"/>
          <p:nvPr/>
        </p:nvSpPr>
        <p:spPr>
          <a:xfrm>
            <a:off x="3572256" y="2441448"/>
            <a:ext cx="1463040" cy="822960"/>
          </a:xfrm>
          <a:prstGeom prst="rect">
            <a:avLst/>
          </a:prstGeom>
          <a:noFill/>
          <a:ln/>
        </p:spPr>
        <p:txBody>
          <a:bodyPr wrap="square" lIns="0" tIns="0" rIns="0" bIns="0" rtlCol="0" anchor="ctr"/>
          <a:lstStyle/>
          <a:p>
            <a:pPr algn="ctr" indent="0" marL="0">
              <a:buNone/>
            </a:pPr>
            <a:r>
              <a:rPr lang="en-US" sz="1250" b="1" dirty="0">
                <a:solidFill>
                  <a:srgbClr val="7B2D1E"/>
                </a:solidFill>
                <a:latin typeface="Garamond" pitchFamily="34" charset="0"/>
                <a:ea typeface="Garamond" pitchFamily="34" charset="-122"/>
                <a:cs typeface="Garamond" pitchFamily="34" charset="-120"/>
              </a:rPr>
              <a:t>Gen AI report</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Groq LLM + chatbot</a:t>
            </a:r>
            <a:endParaRPr lang="en-US" sz="1250" dirty="0"/>
          </a:p>
        </p:txBody>
      </p:sp>
      <p:sp>
        <p:nvSpPr>
          <p:cNvPr id="19" name="Shape 16"/>
          <p:cNvSpPr/>
          <p:nvPr/>
        </p:nvSpPr>
        <p:spPr>
          <a:xfrm>
            <a:off x="5343144" y="2441448"/>
            <a:ext cx="1554480" cy="822960"/>
          </a:xfrm>
          <a:prstGeom prst="roundRect">
            <a:avLst>
              <a:gd name="adj" fmla="val 7778"/>
            </a:avLst>
          </a:prstGeom>
          <a:solidFill>
            <a:srgbClr val="FFFFFF"/>
          </a:solidFill>
          <a:ln w="9525">
            <a:solidFill>
              <a:srgbClr val="7B2D1E"/>
            </a:solidFill>
            <a:prstDash val="solid"/>
          </a:ln>
        </p:spPr>
        <p:txBody>
          <a:bodyPr/>
          <a:p/>
        </p:txBody>
      </p:sp>
      <p:sp>
        <p:nvSpPr>
          <p:cNvPr id="20" name="Text 17"/>
          <p:cNvSpPr txBox="1"/>
          <p:nvPr/>
        </p:nvSpPr>
        <p:spPr>
          <a:xfrm>
            <a:off x="5388864" y="2441448"/>
            <a:ext cx="1463040" cy="822960"/>
          </a:xfrm>
          <a:prstGeom prst="rect">
            <a:avLst/>
          </a:prstGeom>
          <a:noFill/>
          <a:ln/>
        </p:spPr>
        <p:txBody>
          <a:bodyPr wrap="square" lIns="0" tIns="0" rIns="0" bIns="0" rtlCol="0" anchor="ctr"/>
          <a:lstStyle/>
          <a:p>
            <a:pPr algn="ctr" indent="0" marL="0">
              <a:buNone/>
            </a:pPr>
            <a:r>
              <a:rPr lang="en-US" sz="1250" b="1" dirty="0">
                <a:solidFill>
                  <a:srgbClr val="7B2D1E"/>
                </a:solidFill>
                <a:latin typeface="Garamond" pitchFamily="34" charset="0"/>
                <a:ea typeface="Garamond" pitchFamily="34" charset="-122"/>
                <a:cs typeface="Garamond" pitchFamily="34" charset="-120"/>
              </a:rPr>
              <a:t>Classifier</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DenseNet + Grad-CAM</a:t>
            </a:r>
            <a:endParaRPr lang="en-US" sz="1250" dirty="0"/>
          </a:p>
        </p:txBody>
      </p:sp>
      <p:sp>
        <p:nvSpPr>
          <p:cNvPr id="21" name="Shape 18"/>
          <p:cNvSpPr/>
          <p:nvPr/>
        </p:nvSpPr>
        <p:spPr>
          <a:xfrm>
            <a:off x="7159752" y="2441448"/>
            <a:ext cx="1554480" cy="822960"/>
          </a:xfrm>
          <a:prstGeom prst="roundRect">
            <a:avLst>
              <a:gd name="adj" fmla="val 7778"/>
            </a:avLst>
          </a:prstGeom>
          <a:solidFill>
            <a:srgbClr val="FCE4E1"/>
          </a:solidFill>
          <a:ln w="28575">
            <a:solidFill>
              <a:srgbClr val="B01E1E"/>
            </a:solidFill>
            <a:prstDash val="solid"/>
          </a:ln>
        </p:spPr>
        <p:txBody>
          <a:bodyPr/>
          <a:p/>
        </p:txBody>
      </p:sp>
      <p:sp>
        <p:nvSpPr>
          <p:cNvPr id="22" name="Text 19"/>
          <p:cNvSpPr txBox="1"/>
          <p:nvPr/>
        </p:nvSpPr>
        <p:spPr>
          <a:xfrm>
            <a:off x="7205472" y="2441448"/>
            <a:ext cx="1463040" cy="822960"/>
          </a:xfrm>
          <a:prstGeom prst="rect">
            <a:avLst/>
          </a:prstGeom>
          <a:noFill/>
          <a:ln/>
        </p:spPr>
        <p:txBody>
          <a:bodyPr wrap="square" lIns="0" tIns="0" rIns="0" bIns="0" rtlCol="0" anchor="ctr"/>
          <a:lstStyle/>
          <a:p>
            <a:pPr algn="ctr" indent="0" marL="0">
              <a:buNone/>
            </a:pPr>
            <a:r>
              <a:rPr lang="en-US" sz="1250" b="1" dirty="0">
                <a:solidFill>
                  <a:srgbClr val="7B2D1E"/>
                </a:solidFill>
                <a:latin typeface="Garamond" pitchFamily="34" charset="0"/>
                <a:ea typeface="Garamond" pitchFamily="34" charset="-122"/>
                <a:cs typeface="Garamond" pitchFamily="34" charset="-120"/>
              </a:rPr>
              <a:t>OOD detector</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Like training data?</a:t>
            </a:r>
            <a:endParaRPr lang="en-US" sz="1250" dirty="0"/>
          </a:p>
        </p:txBody>
      </p:sp>
      <p:sp>
        <p:nvSpPr>
          <p:cNvPr id="23" name="Shape 20"/>
          <p:cNvSpPr/>
          <p:nvPr/>
        </p:nvSpPr>
        <p:spPr>
          <a:xfrm>
            <a:off x="3291840" y="1664208"/>
            <a:ext cx="207264" cy="0"/>
          </a:xfrm>
          <a:prstGeom prst="line">
            <a:avLst/>
          </a:prstGeom>
          <a:noFill/>
          <a:ln w="15875">
            <a:solidFill>
              <a:srgbClr val="7B2D1E"/>
            </a:solidFill>
            <a:prstDash val="solid"/>
            <a:tailEnd type="triangle"/>
          </a:ln>
        </p:spPr>
        <p:txBody>
          <a:bodyPr/>
          <a:p/>
        </p:txBody>
      </p:sp>
      <p:sp>
        <p:nvSpPr>
          <p:cNvPr id="24" name="Shape 21"/>
          <p:cNvSpPr/>
          <p:nvPr/>
        </p:nvSpPr>
        <p:spPr>
          <a:xfrm flipH="1">
            <a:off x="3291840" y="2852928"/>
            <a:ext cx="207264" cy="0"/>
          </a:xfrm>
          <a:prstGeom prst="line">
            <a:avLst/>
          </a:prstGeom>
          <a:noFill/>
          <a:ln w="15875">
            <a:solidFill>
              <a:srgbClr val="7B2D1E"/>
            </a:solidFill>
            <a:prstDash val="solid"/>
            <a:tailEnd type="triangle"/>
          </a:ln>
        </p:spPr>
        <p:txBody>
          <a:bodyPr/>
          <a:p/>
        </p:txBody>
      </p:sp>
      <p:sp>
        <p:nvSpPr>
          <p:cNvPr id="25" name="Shape 22"/>
          <p:cNvSpPr/>
          <p:nvPr/>
        </p:nvSpPr>
        <p:spPr>
          <a:xfrm>
            <a:off x="5108448" y="1664208"/>
            <a:ext cx="207264" cy="0"/>
          </a:xfrm>
          <a:prstGeom prst="line">
            <a:avLst/>
          </a:prstGeom>
          <a:noFill/>
          <a:ln w="15875">
            <a:solidFill>
              <a:srgbClr val="7B2D1E"/>
            </a:solidFill>
            <a:prstDash val="solid"/>
            <a:tailEnd type="triangle"/>
          </a:ln>
        </p:spPr>
        <p:txBody>
          <a:bodyPr/>
          <a:p/>
        </p:txBody>
      </p:sp>
      <p:sp>
        <p:nvSpPr>
          <p:cNvPr id="26" name="Shape 23"/>
          <p:cNvSpPr/>
          <p:nvPr/>
        </p:nvSpPr>
        <p:spPr>
          <a:xfrm flipH="1">
            <a:off x="5108448" y="2852928"/>
            <a:ext cx="207264" cy="0"/>
          </a:xfrm>
          <a:prstGeom prst="line">
            <a:avLst/>
          </a:prstGeom>
          <a:noFill/>
          <a:ln w="15875">
            <a:solidFill>
              <a:srgbClr val="7B2D1E"/>
            </a:solidFill>
            <a:prstDash val="solid"/>
            <a:tailEnd type="triangle"/>
          </a:ln>
        </p:spPr>
        <p:txBody>
          <a:bodyPr/>
          <a:p/>
        </p:txBody>
      </p:sp>
      <p:sp>
        <p:nvSpPr>
          <p:cNvPr id="27" name="Shape 24"/>
          <p:cNvSpPr/>
          <p:nvPr/>
        </p:nvSpPr>
        <p:spPr>
          <a:xfrm>
            <a:off x="6925056" y="1664208"/>
            <a:ext cx="207264" cy="0"/>
          </a:xfrm>
          <a:prstGeom prst="line">
            <a:avLst/>
          </a:prstGeom>
          <a:noFill/>
          <a:ln w="15875">
            <a:solidFill>
              <a:srgbClr val="7B2D1E"/>
            </a:solidFill>
            <a:prstDash val="solid"/>
            <a:tailEnd type="triangle"/>
          </a:ln>
        </p:spPr>
        <p:txBody>
          <a:bodyPr/>
          <a:p/>
        </p:txBody>
      </p:sp>
      <p:sp>
        <p:nvSpPr>
          <p:cNvPr id="28" name="Shape 25"/>
          <p:cNvSpPr/>
          <p:nvPr/>
        </p:nvSpPr>
        <p:spPr>
          <a:xfrm flipH="1">
            <a:off x="6925056" y="2852928"/>
            <a:ext cx="207264" cy="0"/>
          </a:xfrm>
          <a:prstGeom prst="line">
            <a:avLst/>
          </a:prstGeom>
          <a:noFill/>
          <a:ln w="15875">
            <a:solidFill>
              <a:srgbClr val="7B2D1E"/>
            </a:solidFill>
            <a:prstDash val="solid"/>
            <a:tailEnd type="triangle"/>
          </a:ln>
        </p:spPr>
        <p:txBody>
          <a:bodyPr/>
          <a:p/>
        </p:txBody>
      </p:sp>
      <p:sp>
        <p:nvSpPr>
          <p:cNvPr id="29" name="Shape 26"/>
          <p:cNvSpPr/>
          <p:nvPr/>
        </p:nvSpPr>
        <p:spPr>
          <a:xfrm>
            <a:off x="7936992" y="2103120"/>
            <a:ext cx="0" cy="310896"/>
          </a:xfrm>
          <a:prstGeom prst="line">
            <a:avLst/>
          </a:prstGeom>
          <a:noFill/>
          <a:ln w="15875">
            <a:solidFill>
              <a:srgbClr val="7B2D1E"/>
            </a:solidFill>
            <a:prstDash val="solid"/>
            <a:tailEnd type="triangle"/>
          </a:ln>
        </p:spPr>
        <p:txBody>
          <a:bodyPr/>
          <a:p/>
        </p:txBody>
      </p:sp>
      <p:sp>
        <p:nvSpPr>
          <p:cNvPr id="30" name="Shape 27"/>
          <p:cNvSpPr/>
          <p:nvPr/>
        </p:nvSpPr>
        <p:spPr>
          <a:xfrm>
            <a:off x="292608" y="1252728"/>
            <a:ext cx="1115568" cy="822960"/>
          </a:xfrm>
          <a:prstGeom prst="roundRect">
            <a:avLst>
              <a:gd name="adj" fmla="val 7778"/>
            </a:avLst>
          </a:prstGeom>
          <a:solidFill>
            <a:srgbClr val="F2F2F2"/>
          </a:solidFill>
          <a:ln w="9525">
            <a:solidFill>
              <a:srgbClr val="A6A6A6"/>
            </a:solidFill>
            <a:prstDash val="solid"/>
          </a:ln>
        </p:spPr>
        <p:txBody>
          <a:bodyPr/>
          <a:p/>
        </p:txBody>
      </p:sp>
      <p:sp>
        <p:nvSpPr>
          <p:cNvPr id="31" name="Text 28"/>
          <p:cNvSpPr txBox="1"/>
          <p:nvPr/>
        </p:nvSpPr>
        <p:spPr>
          <a:xfrm>
            <a:off x="338328" y="1252728"/>
            <a:ext cx="1024128" cy="822960"/>
          </a:xfrm>
          <a:prstGeom prst="rect">
            <a:avLst/>
          </a:prstGeom>
          <a:noFill/>
          <a:ln/>
        </p:spPr>
        <p:txBody>
          <a:bodyPr wrap="square" lIns="0" tIns="0" rIns="0" bIns="0" rtlCol="0" anchor="ctr"/>
          <a:lstStyle/>
          <a:p>
            <a:pPr algn="ctr" indent="0" marL="0">
              <a:buNone/>
            </a:pPr>
            <a:r>
              <a:rPr lang="en-US" sz="1250" b="1" dirty="0">
                <a:solidFill>
                  <a:srgbClr val="000000"/>
                </a:solidFill>
                <a:latin typeface="Garamond" pitchFamily="34" charset="0"/>
                <a:ea typeface="Garamond" pitchFamily="34" charset="-122"/>
                <a:cs typeface="Garamond" pitchFamily="34" charset="-120"/>
              </a:rPr>
              <a:t>Client</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React UI</a:t>
            </a:r>
            <a:endParaRPr lang="en-US" sz="1250" dirty="0"/>
          </a:p>
        </p:txBody>
      </p:sp>
      <p:sp>
        <p:nvSpPr>
          <p:cNvPr id="32" name="Shape 29"/>
          <p:cNvSpPr/>
          <p:nvPr/>
        </p:nvSpPr>
        <p:spPr>
          <a:xfrm>
            <a:off x="292608" y="2441448"/>
            <a:ext cx="1115568" cy="822960"/>
          </a:xfrm>
          <a:prstGeom prst="roundRect">
            <a:avLst>
              <a:gd name="adj" fmla="val 7778"/>
            </a:avLst>
          </a:prstGeom>
          <a:solidFill>
            <a:srgbClr val="EAF0F6"/>
          </a:solidFill>
          <a:ln w="9525">
            <a:solidFill>
              <a:srgbClr val="1F4E79"/>
            </a:solidFill>
            <a:prstDash val="solid"/>
          </a:ln>
        </p:spPr>
        <p:txBody>
          <a:bodyPr/>
          <a:p/>
        </p:txBody>
      </p:sp>
      <p:sp>
        <p:nvSpPr>
          <p:cNvPr id="33" name="Text 30"/>
          <p:cNvSpPr txBox="1"/>
          <p:nvPr/>
        </p:nvSpPr>
        <p:spPr>
          <a:xfrm>
            <a:off x="338328" y="2441448"/>
            <a:ext cx="1024128" cy="822960"/>
          </a:xfrm>
          <a:prstGeom prst="rect">
            <a:avLst/>
          </a:prstGeom>
          <a:noFill/>
          <a:ln/>
        </p:spPr>
        <p:txBody>
          <a:bodyPr wrap="square" lIns="0" tIns="0" rIns="0" bIns="0" rtlCol="0" anchor="ctr"/>
          <a:lstStyle/>
          <a:p>
            <a:pPr algn="ctr" indent="0" marL="0">
              <a:buNone/>
            </a:pPr>
            <a:r>
              <a:rPr lang="en-US" sz="1250" b="1" dirty="0">
                <a:solidFill>
                  <a:srgbClr val="1F4E79"/>
                </a:solidFill>
                <a:latin typeface="Garamond" pitchFamily="34" charset="0"/>
                <a:ea typeface="Garamond" pitchFamily="34" charset="-122"/>
                <a:cs typeface="Garamond" pitchFamily="34" charset="-120"/>
              </a:rPr>
              <a:t>Result</a:t>
            </a:r>
            <a:endParaRPr lang="en-US" sz="1250" dirty="0"/>
          </a:p>
          <a:p>
            <a:pPr algn="ctr" indent="0" marL="0">
              <a:buNone/>
            </a:pPr>
            <a:r>
              <a:rPr lang="en-US" sz="1050" dirty="0">
                <a:solidFill>
                  <a:srgbClr val="404040"/>
                </a:solidFill>
                <a:latin typeface="Times New Roman" pitchFamily="34" charset="0"/>
                <a:ea typeface="Times New Roman" pitchFamily="34" charset="-122"/>
                <a:cs typeface="Times New Roman" pitchFamily="34" charset="-120"/>
              </a:rPr>
              <a:t>Class, heatmap, report</a:t>
            </a:r>
            <a:endParaRPr lang="en-US" sz="1250" dirty="0"/>
          </a:p>
        </p:txBody>
      </p:sp>
      <p:sp>
        <p:nvSpPr>
          <p:cNvPr id="34" name="Shape 31"/>
          <p:cNvSpPr/>
          <p:nvPr/>
        </p:nvSpPr>
        <p:spPr>
          <a:xfrm>
            <a:off x="1435608" y="1664208"/>
            <a:ext cx="246888" cy="0"/>
          </a:xfrm>
          <a:prstGeom prst="line">
            <a:avLst/>
          </a:prstGeom>
          <a:noFill/>
          <a:ln w="15875">
            <a:solidFill>
              <a:srgbClr val="7B2D1E"/>
            </a:solidFill>
            <a:prstDash val="solid"/>
            <a:tailEnd type="triangle"/>
          </a:ln>
        </p:spPr>
        <p:txBody>
          <a:bodyPr/>
          <a:p/>
        </p:txBody>
      </p:sp>
      <p:sp>
        <p:nvSpPr>
          <p:cNvPr id="35" name="Shape 32"/>
          <p:cNvSpPr/>
          <p:nvPr/>
        </p:nvSpPr>
        <p:spPr>
          <a:xfrm flipH="1">
            <a:off x="1435608" y="2852928"/>
            <a:ext cx="246888" cy="0"/>
          </a:xfrm>
          <a:prstGeom prst="line">
            <a:avLst/>
          </a:prstGeom>
          <a:noFill/>
          <a:ln w="15875">
            <a:solidFill>
              <a:srgbClr val="7B2D1E"/>
            </a:solidFill>
            <a:prstDash val="solid"/>
            <a:tailEnd type="triangle"/>
          </a:ln>
        </p:spPr>
        <p:txBody>
          <a:bodyPr/>
          <a:p/>
        </p:txBody>
      </p:sp>
      <p:sp>
        <p:nvSpPr>
          <p:cNvPr id="36" name="Shape 33"/>
          <p:cNvSpPr/>
          <p:nvPr/>
        </p:nvSpPr>
        <p:spPr>
          <a:xfrm>
            <a:off x="292608" y="3593592"/>
            <a:ext cx="274320" cy="182880"/>
          </a:xfrm>
          <a:prstGeom prst="roundRect">
            <a:avLst>
              <a:gd name="adj" fmla="val 20000"/>
            </a:avLst>
          </a:prstGeom>
          <a:solidFill>
            <a:srgbClr val="FCE4E1"/>
          </a:solidFill>
          <a:ln w="28575">
            <a:solidFill>
              <a:srgbClr val="B01E1E"/>
            </a:solidFill>
            <a:prstDash val="solid"/>
          </a:ln>
        </p:spPr>
        <p:txBody>
          <a:bodyPr/>
          <a:p/>
        </p:txBody>
      </p:sp>
      <p:sp>
        <p:nvSpPr>
          <p:cNvPr id="37" name="Text 34"/>
          <p:cNvSpPr txBox="1"/>
          <p:nvPr/>
        </p:nvSpPr>
        <p:spPr>
          <a:xfrm>
            <a:off x="658368" y="3547872"/>
            <a:ext cx="7772400" cy="274320"/>
          </a:xfrm>
          <a:prstGeom prst="rect">
            <a:avLst/>
          </a:prstGeom>
          <a:noFill/>
          <a:ln/>
        </p:spPr>
        <p:txBody>
          <a:bodyPr wrap="square" lIns="0" tIns="0" rIns="0" bIns="0" rtlCol="0" anchor="ctr"/>
          <a:lstStyle/>
          <a:p>
            <a:pPr indent="0" marL="0">
              <a:buNone/>
            </a:pPr>
            <a:r>
              <a:rPr lang="en-US" sz="1200" dirty="0">
                <a:solidFill>
                  <a:srgbClr val="404040"/>
                </a:solidFill>
                <a:latin typeface="Times New Roman" pitchFamily="34" charset="0"/>
                <a:ea typeface="Times New Roman" pitchFamily="34" charset="-122"/>
                <a:cs typeface="Times New Roman" pitchFamily="34" charset="-120"/>
              </a:rPr>
              <a:t>Rejection gate: if the check fails, the request stops here and the user is told why (HTTP 400 / 413 / 422)</a:t>
            </a:r>
            <a:endParaRPr lang="en-US" sz="1200" dirty="0"/>
          </a:p>
        </p:txBody>
      </p:sp>
      <p:sp>
        <p:nvSpPr>
          <p:cNvPr id="41" name="TextBox 40"/>
          <p:cNvSpPr txBox="1"/>
          <p:nvPr/>
        </p:nvSpPr>
        <p:spPr>
          <a:xfrm>
            <a:off x="292608" y="932688"/>
            <a:ext cx="1115568" cy="274320"/>
          </a:xfrm>
          <a:prstGeom prst="rect">
            <a:avLst/>
          </a:prstGeom>
          <a:noFill/>
        </p:spPr>
        <p:txBody>
          <a:bodyPr wrap="square" lIns="0" rIns="0" tIns="0" bIns="0" anchor="t">
            <a:spAutoFit/>
          </a:bodyPr>
          <a:lstStyle/>
          <a:p>
            <a:pPr algn="ctr"/>
            <a:r>
              <a:rPr sz="1100" b="1" i="0">
                <a:solidFill>
                  <a:srgbClr val="7B2D1E"/>
                </a:solidFill>
                <a:latin typeface="Times New Roman"/>
              </a:rPr>
              <a:t>Client tier</a:t>
            </a:r>
          </a:p>
        </p:txBody>
      </p:sp>
      <p:sp>
        <p:nvSpPr>
          <p:cNvPr id="42" name="Rounded Rectangle 41"/>
          <p:cNvSpPr/>
          <p:nvPr/>
        </p:nvSpPr>
        <p:spPr>
          <a:xfrm>
            <a:off x="292608" y="3931920"/>
            <a:ext cx="4187952" cy="804672"/>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9768" y="3931920"/>
            <a:ext cx="3931920" cy="804672"/>
          </a:xfrm>
          <a:prstGeom prst="rect">
            <a:avLst/>
          </a:prstGeom>
          <a:noFill/>
        </p:spPr>
        <p:txBody>
          <a:bodyPr wrap="square" lIns="0" rIns="0" tIns="0" bIns="0" anchor="ctr">
            <a:spAutoFit/>
          </a:bodyPr>
          <a:lstStyle/>
          <a:p>
            <a:pPr algn="l"/>
            <a:r>
              <a:rPr sz="1200" b="1" i="0">
                <a:solidFill>
                  <a:srgbClr val="7B2D1E"/>
                </a:solidFill>
                <a:latin typeface="Times New Roman"/>
              </a:rPr>
              <a:t>Data tier:  </a:t>
            </a:r>
            <a:r>
              <a:rPr sz="1200" b="0" i="0">
                <a:solidFill>
                  <a:srgbClr val="000000"/>
                </a:solidFill>
                <a:latin typeface="Times New Roman"/>
              </a:rPr>
              <a:t>SQLite (users, tokens, scans) and a model store (6 checkpoints, OOD statistics)</a:t>
            </a:r>
          </a:p>
        </p:txBody>
      </p:sp>
      <p:sp>
        <p:nvSpPr>
          <p:cNvPr id="44" name="Rounded Rectangle 43"/>
          <p:cNvSpPr/>
          <p:nvPr/>
        </p:nvSpPr>
        <p:spPr>
          <a:xfrm>
            <a:off x="4663440" y="3931920"/>
            <a:ext cx="4187952" cy="804672"/>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00600" y="3931920"/>
            <a:ext cx="3931920" cy="804672"/>
          </a:xfrm>
          <a:prstGeom prst="rect">
            <a:avLst/>
          </a:prstGeom>
          <a:noFill/>
        </p:spPr>
        <p:txBody>
          <a:bodyPr wrap="square" lIns="0" rIns="0" tIns="0" bIns="0" anchor="ctr">
            <a:spAutoFit/>
          </a:bodyPr>
          <a:lstStyle/>
          <a:p>
            <a:pPr algn="l"/>
            <a:r>
              <a:rPr sz="1200" b="1" i="0">
                <a:solidFill>
                  <a:srgbClr val="7B2D1E"/>
                </a:solidFill>
                <a:latin typeface="Times New Roman"/>
              </a:rPr>
              <a:t>External services:  </a:t>
            </a:r>
            <a:r>
              <a:rPr sz="1200" b="0" i="0">
                <a:solidFill>
                  <a:srgbClr val="000000"/>
                </a:solidFill>
                <a:latin typeface="Times New Roman"/>
              </a:rPr>
              <a:t>Groq LLM (report, chat), Gmail SMTP (emails), Google OAuth 2.0 (sign-in)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Design Decisions: Criteria-Based Selection</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graphicFrame>
        <p:nvGraphicFramePr>
          <p:cNvPr id="6" name="Table 5"/>
          <p:cNvGraphicFramePr>
            <a:graphicFrameLocks noGrp="1"/>
          </p:cNvGraphicFramePr>
          <p:nvPr/>
        </p:nvGraphicFramePr>
        <p:xfrm>
          <a:off x="292608" y="822960"/>
          <a:ext cx="8558784" cy="1481328"/>
        </p:xfrm>
        <a:graphic>
          <a:graphicData uri="http://schemas.openxmlformats.org/drawingml/2006/table">
            <a:tbl>
              <a:tblPr/>
              <a:tblGrid>
                <a:gridCol w="1600200"/>
                <a:gridCol w="777240"/>
                <a:gridCol w="1463040"/>
                <a:gridCol w="1143000"/>
                <a:gridCol w="1463040"/>
                <a:gridCol w="1234440"/>
                <a:gridCol w="877824"/>
              </a:tblGrid>
              <a:tr h="246888">
                <a:tc>
                  <a:txBody>
                    <a:bodyPr wrap="square"/>
                    <a:lstStyle/>
                    <a:p>
                      <a:r>
                        <a:rPr sz="1050" b="1" i="0">
                          <a:solidFill>
                            <a:srgbClr val="FFFFFF"/>
                          </a:solidFill>
                          <a:latin typeface="Times New Roman"/>
                        </a:rPr>
                        <a:t>Classifier backbone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pPr algn="ctr"/>
                      <a:r>
                        <a:rPr sz="1050" b="1" i="0">
                          <a:solidFill>
                            <a:srgbClr val="FFFFFF"/>
                          </a:solidFill>
                          <a:latin typeface="Times New Roman"/>
                        </a:rPr>
                        <a:t>Params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pPr algn="ctr"/>
                      <a:r>
                        <a:rPr sz="1050" b="1" i="0">
                          <a:solidFill>
                            <a:srgbClr val="FFFFFF"/>
                          </a:solidFill>
                          <a:latin typeface="Times New Roman"/>
                        </a:rPr>
                        <a:t>Accuracy on chest images (30%)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pPr algn="ctr"/>
                      <a:r>
                        <a:rPr sz="1050" b="1" i="0">
                          <a:solidFill>
                            <a:srgbClr val="FFFFFF"/>
                          </a:solidFill>
                          <a:latin typeface="Times New Roman"/>
                        </a:rPr>
                        <a:t>CPU cost (25%)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pPr algn="ctr"/>
                      <a:r>
                        <a:rPr sz="1050" b="1" i="0">
                          <a:solidFill>
                            <a:srgbClr val="FFFFFF"/>
                          </a:solidFill>
                          <a:latin typeface="Times New Roman"/>
                        </a:rPr>
                        <a:t>Chest-X-ray weights (25%)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pPr algn="ctr"/>
                      <a:r>
                        <a:rPr sz="1050" b="1" i="0">
                          <a:solidFill>
                            <a:srgbClr val="FFFFFF"/>
                          </a:solidFill>
                          <a:latin typeface="Times New Roman"/>
                        </a:rPr>
                        <a:t>Maintain-ability (20%)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pPr algn="ctr"/>
                      <a:r>
                        <a:rPr sz="1050" b="1" i="0">
                          <a:solidFill>
                            <a:srgbClr val="FFFFFF"/>
                          </a:solidFill>
                          <a:latin typeface="Times New Roman"/>
                        </a:rPr>
                        <a:t>Weighted score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r>
              <a:tr h="246888">
                <a:tc>
                  <a:txBody>
                    <a:bodyPr wrap="square"/>
                    <a:lstStyle/>
                    <a:p>
                      <a:r>
                        <a:rPr sz="1100" b="0" i="0">
                          <a:solidFill>
                            <a:srgbClr val="000000"/>
                          </a:solidFill>
                          <a:latin typeface="Times New Roman"/>
                        </a:rPr>
                        <a:t>VGG-16</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138 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3</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2.20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46888">
                <a:tc>
                  <a:txBody>
                    <a:bodyPr wrap="square"/>
                    <a:lstStyle/>
                    <a:p>
                      <a:r>
                        <a:rPr sz="1100" b="0" i="0">
                          <a:solidFill>
                            <a:srgbClr val="000000"/>
                          </a:solidFill>
                          <a:latin typeface="Times New Roman"/>
                        </a:rPr>
                        <a:t>ResNet-50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25.6 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3</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3.95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46888">
                <a:tc>
                  <a:txBody>
                    <a:bodyPr wrap="square"/>
                    <a:lstStyle/>
                    <a:p>
                      <a:r>
                        <a:rPr sz="1100" b="0" i="0">
                          <a:solidFill>
                            <a:srgbClr val="000000"/>
                          </a:solidFill>
                          <a:latin typeface="Times New Roman"/>
                        </a:rPr>
                        <a:t>Inception-v3</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23.8 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3</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3</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pPr algn="ctr"/>
                      <a:r>
                        <a:rPr sz="1100" b="0" i="0">
                          <a:solidFill>
                            <a:srgbClr val="000000"/>
                          </a:solidFill>
                          <a:latin typeface="Times New Roman"/>
                        </a:rPr>
                        <a:t>2.80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46888">
                <a:tc>
                  <a:txBody>
                    <a:bodyPr wrap="square"/>
                    <a:lstStyle/>
                    <a:p>
                      <a:r>
                        <a:rPr sz="1100" b="0" i="0">
                          <a:solidFill>
                            <a:srgbClr val="000000"/>
                          </a:solidFill>
                          <a:latin typeface="Times New Roman"/>
                        </a:rPr>
                        <a:t>EfficientNet-B0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5.3 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pPr algn="ctr"/>
                      <a:r>
                        <a:rPr sz="1100" b="0" i="0">
                          <a:solidFill>
                            <a:srgbClr val="000000"/>
                          </a:solidFill>
                          <a:latin typeface="Times New Roman"/>
                        </a:rPr>
                        <a:t>3.50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46888">
                <a:tc>
                  <a:txBody>
                    <a:bodyPr wrap="square"/>
                    <a:lstStyle/>
                    <a:p>
                      <a:r>
                        <a:rPr sz="1100" b="1" i="0">
                          <a:solidFill>
                            <a:srgbClr val="000000"/>
                          </a:solidFill>
                          <a:latin typeface="Times New Roman"/>
                        </a:rPr>
                        <a:t>DenseNet-121 (selected)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CE5CD"/>
                    </a:solidFill>
                  </a:tcPr>
                </a:tc>
                <a:tc>
                  <a:txBody>
                    <a:bodyPr wrap="square"/>
                    <a:lstStyle/>
                    <a:p>
                      <a:pPr algn="ctr"/>
                      <a:r>
                        <a:rPr sz="1100" b="1" i="0">
                          <a:solidFill>
                            <a:srgbClr val="000000"/>
                          </a:solidFill>
                          <a:latin typeface="Times New Roman"/>
                        </a:rPr>
                        <a:t>8.0 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CE5CD"/>
                    </a:solidFill>
                  </a:tcPr>
                </a:tc>
                <a:tc>
                  <a:txBody>
                    <a:bodyPr wrap="square"/>
                    <a:lstStyle/>
                    <a:p>
                      <a:pPr algn="ctr"/>
                      <a:r>
                        <a:rPr sz="1100" b="1" i="0">
                          <a:solidFill>
                            <a:srgbClr val="000000"/>
                          </a:solidFill>
                          <a:latin typeface="Times New Roman"/>
                        </a:rPr>
                        <a:t>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CE5CD"/>
                    </a:solidFill>
                  </a:tcPr>
                </a:tc>
                <a:tc>
                  <a:txBody>
                    <a:bodyPr wrap="square"/>
                    <a:lstStyle/>
                    <a:p>
                      <a:pPr algn="ctr"/>
                      <a:r>
                        <a:rPr sz="1100" b="1" i="0">
                          <a:solidFill>
                            <a:srgbClr val="000000"/>
                          </a:solidFill>
                          <a:latin typeface="Times New Roman"/>
                        </a:rPr>
                        <a:t>4</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CE5CD"/>
                    </a:solidFill>
                  </a:tcPr>
                </a:tc>
                <a:tc>
                  <a:txBody>
                    <a:bodyPr wrap="square"/>
                    <a:lstStyle/>
                    <a:p>
                      <a:pPr algn="ctr"/>
                      <a:r>
                        <a:rPr sz="1100" b="1" i="0">
                          <a:solidFill>
                            <a:srgbClr val="000000"/>
                          </a:solidFill>
                          <a:latin typeface="Times New Roman"/>
                        </a:rPr>
                        <a:t>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CE5CD"/>
                    </a:solidFill>
                  </a:tcPr>
                </a:tc>
                <a:tc>
                  <a:txBody>
                    <a:bodyPr wrap="square"/>
                    <a:lstStyle/>
                    <a:p>
                      <a:pPr algn="ctr"/>
                      <a:r>
                        <a:rPr sz="1100" b="1" i="0">
                          <a:solidFill>
                            <a:srgbClr val="000000"/>
                          </a:solidFill>
                          <a:latin typeface="Times New Roman"/>
                        </a:rPr>
                        <a:t>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CE5CD"/>
                    </a:solidFill>
                  </a:tcPr>
                </a:tc>
                <a:tc>
                  <a:txBody>
                    <a:bodyPr wrap="square"/>
                    <a:lstStyle/>
                    <a:p>
                      <a:pPr algn="ctr"/>
                      <a:r>
                        <a:rPr sz="1100" b="1" i="0">
                          <a:solidFill>
                            <a:srgbClr val="000000"/>
                          </a:solidFill>
                          <a:latin typeface="Times New Roman"/>
                        </a:rPr>
                        <a:t>4.75</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CE5CD"/>
                    </a:solidFill>
                  </a:tcPr>
                </a:tc>
              </a:tr>
            </a:tbl>
          </a:graphicData>
        </a:graphic>
      </p:graphicFrame>
      <p:sp>
        <p:nvSpPr>
          <p:cNvPr id="7" name="TextBox 6"/>
          <p:cNvSpPr txBox="1"/>
          <p:nvPr/>
        </p:nvSpPr>
        <p:spPr>
          <a:xfrm>
            <a:off x="292608" y="2697480"/>
            <a:ext cx="5486400" cy="274320"/>
          </a:xfrm>
          <a:prstGeom prst="rect">
            <a:avLst/>
          </a:prstGeom>
          <a:noFill/>
        </p:spPr>
        <p:txBody>
          <a:bodyPr wrap="square" lIns="0" rIns="0" tIns="0" bIns="0" anchor="t">
            <a:spAutoFit/>
          </a:bodyPr>
          <a:lstStyle/>
          <a:p>
            <a:pPr algn="l"/>
            <a:r>
              <a:rPr sz="1250" b="1" i="0">
                <a:solidFill>
                  <a:srgbClr val="7B2D1E"/>
                </a:solidFill>
                <a:latin typeface="Times New Roman"/>
              </a:rPr>
              <a:t>Other decisions, each tied to a quality criterion</a:t>
            </a:r>
          </a:p>
        </p:txBody>
      </p:sp>
      <p:sp>
        <p:nvSpPr>
          <p:cNvPr id="8" name="Rounded Rectangle 7"/>
          <p:cNvSpPr/>
          <p:nvPr/>
        </p:nvSpPr>
        <p:spPr>
          <a:xfrm>
            <a:off x="292608" y="2999232"/>
            <a:ext cx="2002536" cy="1161288"/>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3054096"/>
            <a:ext cx="1828800" cy="246888"/>
          </a:xfrm>
          <a:prstGeom prst="rect">
            <a:avLst/>
          </a:prstGeom>
          <a:noFill/>
        </p:spPr>
        <p:txBody>
          <a:bodyPr wrap="square" lIns="0" rIns="0" tIns="0" bIns="0" anchor="t">
            <a:spAutoFit/>
          </a:bodyPr>
          <a:lstStyle/>
          <a:p>
            <a:pPr algn="l"/>
            <a:r>
              <a:rPr sz="1150" b="1" i="0">
                <a:solidFill>
                  <a:srgbClr val="7B2D1E"/>
                </a:solidFill>
                <a:latin typeface="Times New Roman"/>
              </a:rPr>
              <a:t>Back-end framework</a:t>
            </a:r>
          </a:p>
        </p:txBody>
      </p:sp>
      <p:sp>
        <p:nvSpPr>
          <p:cNvPr id="10" name="TextBox 9"/>
          <p:cNvSpPr txBox="1"/>
          <p:nvPr/>
        </p:nvSpPr>
        <p:spPr>
          <a:xfrm>
            <a:off x="384048" y="3291840"/>
            <a:ext cx="1828800" cy="201168"/>
          </a:xfrm>
          <a:prstGeom prst="rect">
            <a:avLst/>
          </a:prstGeom>
          <a:noFill/>
        </p:spPr>
        <p:txBody>
          <a:bodyPr wrap="square" lIns="0" rIns="0" tIns="0" bIns="0" anchor="t">
            <a:spAutoFit/>
          </a:bodyPr>
          <a:lstStyle/>
          <a:p>
            <a:pPr algn="l"/>
            <a:r>
              <a:rPr sz="1000" b="1" i="0">
                <a:solidFill>
                  <a:srgbClr val="ED7D31"/>
                </a:solidFill>
                <a:latin typeface="Times New Roman"/>
              </a:rPr>
              <a:t>Maintainability</a:t>
            </a:r>
          </a:p>
        </p:txBody>
      </p:sp>
      <p:sp>
        <p:nvSpPr>
          <p:cNvPr id="11" name="TextBox 10"/>
          <p:cNvSpPr txBox="1"/>
          <p:nvPr/>
        </p:nvSpPr>
        <p:spPr>
          <a:xfrm>
            <a:off x="384048" y="3511296"/>
            <a:ext cx="1828800" cy="640080"/>
          </a:xfrm>
          <a:prstGeom prst="rect">
            <a:avLst/>
          </a:prstGeom>
          <a:noFill/>
        </p:spPr>
        <p:txBody>
          <a:bodyPr wrap="square" lIns="0" rIns="0" tIns="0" bIns="0" anchor="t">
            <a:spAutoFit/>
          </a:bodyPr>
          <a:lstStyle/>
          <a:p>
            <a:pPr algn="l"/>
            <a:r>
              <a:rPr sz="1050" b="0" i="0">
                <a:solidFill>
                  <a:srgbClr val="000000"/>
                </a:solidFill>
                <a:latin typeface="Times New Roman"/>
              </a:rPr>
              <a:t>FastAPI over Flask/Django: request validation and API docs built in</a:t>
            </a:r>
          </a:p>
        </p:txBody>
      </p:sp>
      <p:sp>
        <p:nvSpPr>
          <p:cNvPr id="12" name="Rounded Rectangle 11"/>
          <p:cNvSpPr/>
          <p:nvPr/>
        </p:nvSpPr>
        <p:spPr>
          <a:xfrm>
            <a:off x="2478024" y="2999232"/>
            <a:ext cx="2002536" cy="1161288"/>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9464" y="3054096"/>
            <a:ext cx="1828800" cy="246888"/>
          </a:xfrm>
          <a:prstGeom prst="rect">
            <a:avLst/>
          </a:prstGeom>
          <a:noFill/>
        </p:spPr>
        <p:txBody>
          <a:bodyPr wrap="square" lIns="0" rIns="0" tIns="0" bIns="0" anchor="t">
            <a:spAutoFit/>
          </a:bodyPr>
          <a:lstStyle/>
          <a:p>
            <a:pPr algn="l"/>
            <a:r>
              <a:rPr sz="1150" b="1" i="0">
                <a:solidFill>
                  <a:srgbClr val="7B2D1E"/>
                </a:solidFill>
                <a:latin typeface="Times New Roman"/>
              </a:rPr>
              <a:t>Database</a:t>
            </a:r>
          </a:p>
        </p:txBody>
      </p:sp>
      <p:sp>
        <p:nvSpPr>
          <p:cNvPr id="14" name="TextBox 13"/>
          <p:cNvSpPr txBox="1"/>
          <p:nvPr/>
        </p:nvSpPr>
        <p:spPr>
          <a:xfrm>
            <a:off x="2569464" y="3291840"/>
            <a:ext cx="1828800" cy="201168"/>
          </a:xfrm>
          <a:prstGeom prst="rect">
            <a:avLst/>
          </a:prstGeom>
          <a:noFill/>
        </p:spPr>
        <p:txBody>
          <a:bodyPr wrap="square" lIns="0" rIns="0" tIns="0" bIns="0" anchor="t">
            <a:spAutoFit/>
          </a:bodyPr>
          <a:lstStyle/>
          <a:p>
            <a:pPr algn="l"/>
            <a:r>
              <a:rPr sz="1000" b="1" i="0">
                <a:solidFill>
                  <a:srgbClr val="ED7D31"/>
                </a:solidFill>
                <a:latin typeface="Times New Roman"/>
              </a:rPr>
              <a:t>Reliability</a:t>
            </a:r>
          </a:p>
        </p:txBody>
      </p:sp>
      <p:sp>
        <p:nvSpPr>
          <p:cNvPr id="15" name="TextBox 14"/>
          <p:cNvSpPr txBox="1"/>
          <p:nvPr/>
        </p:nvSpPr>
        <p:spPr>
          <a:xfrm>
            <a:off x="2569464" y="3511296"/>
            <a:ext cx="1828800" cy="640080"/>
          </a:xfrm>
          <a:prstGeom prst="rect">
            <a:avLst/>
          </a:prstGeom>
          <a:noFill/>
        </p:spPr>
        <p:txBody>
          <a:bodyPr wrap="square" lIns="0" rIns="0" tIns="0" bIns="0" anchor="t">
            <a:spAutoFit/>
          </a:bodyPr>
          <a:lstStyle/>
          <a:p>
            <a:pPr algn="l"/>
            <a:r>
              <a:rPr sz="1050" b="0" i="0">
                <a:solidFill>
                  <a:srgbClr val="000000"/>
                </a:solidFill>
                <a:latin typeface="Times New Roman"/>
              </a:rPr>
              <a:t>SQLite over PostgreSQL: 3 tables, one host, no database server</a:t>
            </a:r>
          </a:p>
        </p:txBody>
      </p:sp>
      <p:sp>
        <p:nvSpPr>
          <p:cNvPr id="16" name="Rounded Rectangle 15"/>
          <p:cNvSpPr/>
          <p:nvPr/>
        </p:nvSpPr>
        <p:spPr>
          <a:xfrm>
            <a:off x="4663440" y="2999232"/>
            <a:ext cx="2002536" cy="1161288"/>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3054096"/>
            <a:ext cx="1828800" cy="246888"/>
          </a:xfrm>
          <a:prstGeom prst="rect">
            <a:avLst/>
          </a:prstGeom>
          <a:noFill/>
        </p:spPr>
        <p:txBody>
          <a:bodyPr wrap="square" lIns="0" rIns="0" tIns="0" bIns="0" anchor="t">
            <a:spAutoFit/>
          </a:bodyPr>
          <a:lstStyle/>
          <a:p>
            <a:pPr algn="l"/>
            <a:r>
              <a:rPr sz="1150" b="1" i="0">
                <a:solidFill>
                  <a:srgbClr val="7B2D1E"/>
                </a:solidFill>
                <a:latin typeface="Times New Roman"/>
              </a:rPr>
              <a:t>Input gates</a:t>
            </a:r>
          </a:p>
        </p:txBody>
      </p:sp>
      <p:sp>
        <p:nvSpPr>
          <p:cNvPr id="18" name="TextBox 17"/>
          <p:cNvSpPr txBox="1"/>
          <p:nvPr/>
        </p:nvSpPr>
        <p:spPr>
          <a:xfrm>
            <a:off x="4754880" y="3291840"/>
            <a:ext cx="1828800" cy="201168"/>
          </a:xfrm>
          <a:prstGeom prst="rect">
            <a:avLst/>
          </a:prstGeom>
          <a:noFill/>
        </p:spPr>
        <p:txBody>
          <a:bodyPr wrap="square" lIns="0" rIns="0" tIns="0" bIns="0" anchor="t">
            <a:spAutoFit/>
          </a:bodyPr>
          <a:lstStyle/>
          <a:p>
            <a:pPr algn="l"/>
            <a:r>
              <a:rPr sz="1000" b="1" i="0">
                <a:solidFill>
                  <a:srgbClr val="ED7D31"/>
                </a:solidFill>
                <a:latin typeface="Times New Roman"/>
              </a:rPr>
              <a:t>Performance</a:t>
            </a:r>
          </a:p>
        </p:txBody>
      </p:sp>
      <p:sp>
        <p:nvSpPr>
          <p:cNvPr id="19" name="TextBox 18"/>
          <p:cNvSpPr txBox="1"/>
          <p:nvPr/>
        </p:nvSpPr>
        <p:spPr>
          <a:xfrm>
            <a:off x="4754880" y="3511296"/>
            <a:ext cx="1828800" cy="640080"/>
          </a:xfrm>
          <a:prstGeom prst="rect">
            <a:avLst/>
          </a:prstGeom>
          <a:noFill/>
        </p:spPr>
        <p:txBody>
          <a:bodyPr wrap="square" lIns="0" rIns="0" tIns="0" bIns="0" anchor="t">
            <a:spAutoFit/>
          </a:bodyPr>
          <a:lstStyle/>
          <a:p>
            <a:pPr algn="l"/>
            <a:r>
              <a:rPr sz="1050" b="0" i="0">
                <a:solidFill>
                  <a:srgbClr val="000000"/>
                </a:solidFill>
                <a:latin typeface="Times New Roman"/>
              </a:rPr>
              <a:t>ResNet-18 over DenseNet: a binary task needs a small, fast model</a:t>
            </a:r>
          </a:p>
        </p:txBody>
      </p:sp>
      <p:sp>
        <p:nvSpPr>
          <p:cNvPr id="20" name="Rounded Rectangle 19"/>
          <p:cNvSpPr/>
          <p:nvPr/>
        </p:nvSpPr>
        <p:spPr>
          <a:xfrm>
            <a:off x="6848856" y="2999232"/>
            <a:ext cx="2002536" cy="1161288"/>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0296" y="3054096"/>
            <a:ext cx="1828800" cy="246888"/>
          </a:xfrm>
          <a:prstGeom prst="rect">
            <a:avLst/>
          </a:prstGeom>
          <a:noFill/>
        </p:spPr>
        <p:txBody>
          <a:bodyPr wrap="square" lIns="0" rIns="0" tIns="0" bIns="0" anchor="t">
            <a:spAutoFit/>
          </a:bodyPr>
          <a:lstStyle/>
          <a:p>
            <a:pPr algn="l"/>
            <a:r>
              <a:rPr sz="1150" b="1" i="0">
                <a:solidFill>
                  <a:srgbClr val="7B2D1E"/>
                </a:solidFill>
                <a:latin typeface="Times New Roman"/>
              </a:rPr>
              <a:t>API routes</a:t>
            </a:r>
          </a:p>
        </p:txBody>
      </p:sp>
      <p:sp>
        <p:nvSpPr>
          <p:cNvPr id="22" name="TextBox 21"/>
          <p:cNvSpPr txBox="1"/>
          <p:nvPr/>
        </p:nvSpPr>
        <p:spPr>
          <a:xfrm>
            <a:off x="6940296" y="3291840"/>
            <a:ext cx="1828800" cy="201168"/>
          </a:xfrm>
          <a:prstGeom prst="rect">
            <a:avLst/>
          </a:prstGeom>
          <a:noFill/>
        </p:spPr>
        <p:txBody>
          <a:bodyPr wrap="square" lIns="0" rIns="0" tIns="0" bIns="0" anchor="t">
            <a:spAutoFit/>
          </a:bodyPr>
          <a:lstStyle/>
          <a:p>
            <a:pPr algn="l"/>
            <a:r>
              <a:rPr sz="1000" b="1" i="0">
                <a:solidFill>
                  <a:srgbClr val="ED7D31"/>
                </a:solidFill>
                <a:latin typeface="Times New Roman"/>
              </a:rPr>
              <a:t>Scalability</a:t>
            </a:r>
          </a:p>
        </p:txBody>
      </p:sp>
      <p:sp>
        <p:nvSpPr>
          <p:cNvPr id="23" name="TextBox 22"/>
          <p:cNvSpPr txBox="1"/>
          <p:nvPr/>
        </p:nvSpPr>
        <p:spPr>
          <a:xfrm>
            <a:off x="6940296" y="3511296"/>
            <a:ext cx="1828800" cy="640080"/>
          </a:xfrm>
          <a:prstGeom prst="rect">
            <a:avLst/>
          </a:prstGeom>
          <a:noFill/>
        </p:spPr>
        <p:txBody>
          <a:bodyPr wrap="square" lIns="0" rIns="0" tIns="0" bIns="0" anchor="t">
            <a:spAutoFit/>
          </a:bodyPr>
          <a:lstStyle/>
          <a:p>
            <a:pPr algn="l"/>
            <a:r>
              <a:rPr sz="1050" b="0" i="0">
                <a:solidFill>
                  <a:srgbClr val="000000"/>
                </a:solidFill>
                <a:latin typeface="Times New Roman"/>
              </a:rPr>
              <a:t>One route per modality: fixed schema each; new modality = new route</a:t>
            </a:r>
          </a:p>
        </p:txBody>
      </p:sp>
      <p:sp>
        <p:nvSpPr>
          <p:cNvPr id="24" name="Rounded Rectangle 23"/>
          <p:cNvSpPr/>
          <p:nvPr/>
        </p:nvSpPr>
        <p:spPr>
          <a:xfrm>
            <a:off x="292608" y="4279392"/>
            <a:ext cx="8558784" cy="502920"/>
          </a:xfrm>
          <a:prstGeom prst="roundRect">
            <a:avLst>
              <a:gd name="adj" fmla="val 6000"/>
            </a:avLst>
          </a:prstGeom>
          <a:solidFill>
            <a:srgbClr val="FCE5CD"/>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279392"/>
            <a:ext cx="8229600" cy="502920"/>
          </a:xfrm>
          <a:prstGeom prst="rect">
            <a:avLst/>
          </a:prstGeom>
          <a:noFill/>
        </p:spPr>
        <p:txBody>
          <a:bodyPr wrap="square" lIns="0" rIns="0" tIns="0" bIns="0" anchor="ctr">
            <a:spAutoFit/>
          </a:bodyPr>
          <a:lstStyle/>
          <a:p>
            <a:pPr algn="l"/>
            <a:r>
              <a:rPr sz="1200" b="1" i="0">
                <a:solidFill>
                  <a:srgbClr val="7B2D1E"/>
                </a:solidFill>
                <a:latin typeface="Times New Roman"/>
              </a:rPr>
              <a:t>Method:  </a:t>
            </a:r>
            <a:r>
              <a:rPr sz="1200" b="0" i="0">
                <a:solidFill>
                  <a:srgbClr val="000000"/>
                </a:solidFill>
                <a:latin typeface="Times New Roman"/>
              </a:rPr>
              <a:t>weighted decision matrix: each criterion scored 1–5, score = Σ weight × rating.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UML Modelling: Use Case &amp; Class Diagrams</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pic>
        <p:nvPicPr>
          <p:cNvPr id="6" name="Picture 5" descr="usecase.png"/>
          <p:cNvPicPr>
            <a:picLocks noChangeAspect="1"/>
          </p:cNvPicPr>
          <p:nvPr/>
        </p:nvPicPr>
        <p:blipFill>
          <a:blip r:embed="rId3"/>
          <a:stretch>
            <a:fillRect/>
          </a:stretch>
        </p:blipFill>
        <p:spPr>
          <a:xfrm>
            <a:off x="292608" y="822960"/>
            <a:ext cx="3470439" cy="3657600"/>
          </a:xfrm>
          <a:prstGeom prst="rect">
            <a:avLst/>
          </a:prstGeom>
          <a:ln w="9525">
            <a:solidFill>
              <a:srgbClr val="D8B5AB"/>
            </a:solidFill>
          </a:ln>
        </p:spPr>
      </p:pic>
      <p:sp>
        <p:nvSpPr>
          <p:cNvPr id="7" name="TextBox 6"/>
          <p:cNvSpPr txBox="1"/>
          <p:nvPr/>
        </p:nvSpPr>
        <p:spPr>
          <a:xfrm>
            <a:off x="292608" y="4526280"/>
            <a:ext cx="3474720" cy="228600"/>
          </a:xfrm>
          <a:prstGeom prst="rect">
            <a:avLst/>
          </a:prstGeom>
          <a:noFill/>
        </p:spPr>
        <p:txBody>
          <a:bodyPr wrap="square" lIns="0" rIns="0" tIns="0" bIns="0" anchor="t">
            <a:spAutoFit/>
          </a:bodyPr>
          <a:lstStyle/>
          <a:p>
            <a:pPr algn="ctr"/>
            <a:r>
              <a:rPr sz="1000" b="0" i="1">
                <a:solidFill>
                  <a:srgbClr val="595959"/>
                </a:solidFill>
                <a:latin typeface="Times New Roman"/>
              </a:rPr>
              <a:t>Use case diagram: 2 actors, 3 external services</a:t>
            </a:r>
          </a:p>
        </p:txBody>
      </p:sp>
      <p:pic>
        <p:nvPicPr>
          <p:cNvPr id="8" name="Picture 7" descr="class.png"/>
          <p:cNvPicPr>
            <a:picLocks noChangeAspect="1"/>
          </p:cNvPicPr>
          <p:nvPr/>
        </p:nvPicPr>
        <p:blipFill>
          <a:blip r:embed="rId4"/>
          <a:stretch>
            <a:fillRect/>
          </a:stretch>
        </p:blipFill>
        <p:spPr>
          <a:xfrm>
            <a:off x="3977639" y="822960"/>
            <a:ext cx="4873752" cy="2628243"/>
          </a:xfrm>
          <a:prstGeom prst="rect">
            <a:avLst/>
          </a:prstGeom>
          <a:ln w="9525">
            <a:solidFill>
              <a:srgbClr val="D8B5AB"/>
            </a:solidFill>
          </a:ln>
        </p:spPr>
      </p:pic>
      <p:sp>
        <p:nvSpPr>
          <p:cNvPr id="9" name="TextBox 8"/>
          <p:cNvSpPr txBox="1"/>
          <p:nvPr/>
        </p:nvSpPr>
        <p:spPr>
          <a:xfrm>
            <a:off x="3977639" y="3474720"/>
            <a:ext cx="4873752" cy="228600"/>
          </a:xfrm>
          <a:prstGeom prst="rect">
            <a:avLst/>
          </a:prstGeom>
          <a:noFill/>
        </p:spPr>
        <p:txBody>
          <a:bodyPr wrap="square" lIns="0" rIns="0" tIns="0" bIns="0" anchor="t">
            <a:spAutoFit/>
          </a:bodyPr>
          <a:lstStyle/>
          <a:p>
            <a:pPr algn="ctr"/>
            <a:r>
              <a:rPr sz="1000" b="0" i="1">
                <a:solidFill>
                  <a:srgbClr val="595959"/>
                </a:solidFill>
                <a:latin typeface="Times New Roman"/>
              </a:rPr>
              <a:t>Class diagram of the back end (composition, inheritance, dependency)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UML Modelling: Sequence &amp; State (UX Flow)</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pic>
        <p:nvPicPr>
          <p:cNvPr id="6" name="Picture 5" descr="sequence.png"/>
          <p:cNvPicPr>
            <a:picLocks noChangeAspect="1"/>
          </p:cNvPicPr>
          <p:nvPr/>
        </p:nvPicPr>
        <p:blipFill>
          <a:blip r:embed="rId3"/>
          <a:stretch>
            <a:fillRect/>
          </a:stretch>
        </p:blipFill>
        <p:spPr>
          <a:xfrm>
            <a:off x="292608" y="822960"/>
            <a:ext cx="5440680" cy="3636991"/>
          </a:xfrm>
          <a:prstGeom prst="rect">
            <a:avLst/>
          </a:prstGeom>
          <a:ln w="9525">
            <a:solidFill>
              <a:srgbClr val="D8B5AB"/>
            </a:solidFill>
          </a:ln>
        </p:spPr>
      </p:pic>
      <p:sp>
        <p:nvSpPr>
          <p:cNvPr id="7" name="TextBox 6"/>
          <p:cNvSpPr txBox="1"/>
          <p:nvPr/>
        </p:nvSpPr>
        <p:spPr>
          <a:xfrm>
            <a:off x="292608" y="4498848"/>
            <a:ext cx="5440680" cy="228600"/>
          </a:xfrm>
          <a:prstGeom prst="rect">
            <a:avLst/>
          </a:prstGeom>
          <a:noFill/>
        </p:spPr>
        <p:txBody>
          <a:bodyPr wrap="square" lIns="0" rIns="0" tIns="0" bIns="0" anchor="t">
            <a:spAutoFit/>
          </a:bodyPr>
          <a:lstStyle/>
          <a:p>
            <a:pPr algn="ctr"/>
            <a:r>
              <a:rPr sz="1000" b="0" i="1">
                <a:solidFill>
                  <a:srgbClr val="595959"/>
                </a:solidFill>
                <a:latin typeface="Times New Roman"/>
              </a:rPr>
              <a:t>Sequence diagram: analysing a chest X-ray</a:t>
            </a:r>
          </a:p>
        </p:txBody>
      </p:sp>
      <p:pic>
        <p:nvPicPr>
          <p:cNvPr id="8" name="Picture 7" descr="state.png"/>
          <p:cNvPicPr>
            <a:picLocks noChangeAspect="1"/>
          </p:cNvPicPr>
          <p:nvPr/>
        </p:nvPicPr>
        <p:blipFill>
          <a:blip r:embed="rId4"/>
          <a:stretch>
            <a:fillRect/>
          </a:stretch>
        </p:blipFill>
        <p:spPr>
          <a:xfrm>
            <a:off x="5943600" y="822960"/>
            <a:ext cx="1612409" cy="3611880"/>
          </a:xfrm>
          <a:prstGeom prst="rect">
            <a:avLst/>
          </a:prstGeom>
          <a:ln w="9525">
            <a:solidFill>
              <a:srgbClr val="D8B5AB"/>
            </a:solidFill>
          </a:ln>
        </p:spPr>
      </p:pic>
      <p:sp>
        <p:nvSpPr>
          <p:cNvPr id="9" name="TextBox 8"/>
          <p:cNvSpPr txBox="1"/>
          <p:nvPr/>
        </p:nvSpPr>
        <p:spPr>
          <a:xfrm>
            <a:off x="5760720" y="4498848"/>
            <a:ext cx="1874519" cy="228600"/>
          </a:xfrm>
          <a:prstGeom prst="rect">
            <a:avLst/>
          </a:prstGeom>
          <a:noFill/>
        </p:spPr>
        <p:txBody>
          <a:bodyPr wrap="square" lIns="0" rIns="0" tIns="0" bIns="0" anchor="t">
            <a:spAutoFit/>
          </a:bodyPr>
          <a:lstStyle/>
          <a:p>
            <a:pPr algn="ctr"/>
            <a:r>
              <a:rPr sz="1000" b="0" i="1">
                <a:solidFill>
                  <a:srgbClr val="595959"/>
                </a:solidFill>
                <a:latin typeface="Times New Roman"/>
              </a:rPr>
              <a:t>State diagram of the UI</a:t>
            </a:r>
          </a:p>
        </p:txBody>
      </p:sp>
      <p:sp>
        <p:nvSpPr>
          <p:cNvPr id="10" name="Rounded Rectangle 9"/>
          <p:cNvSpPr/>
          <p:nvPr/>
        </p:nvSpPr>
        <p:spPr>
          <a:xfrm>
            <a:off x="7607808" y="822960"/>
            <a:ext cx="1243584" cy="361188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17536" y="896112"/>
            <a:ext cx="1024128" cy="274320"/>
          </a:xfrm>
          <a:prstGeom prst="rect">
            <a:avLst/>
          </a:prstGeom>
          <a:noFill/>
        </p:spPr>
        <p:txBody>
          <a:bodyPr wrap="square" lIns="0" rIns="0" tIns="0" bIns="0" anchor="t">
            <a:spAutoFit/>
          </a:bodyPr>
          <a:lstStyle/>
          <a:p>
            <a:pPr algn="l"/>
            <a:r>
              <a:rPr sz="1150" b="1" i="0">
                <a:solidFill>
                  <a:srgbClr val="7B2D1E"/>
                </a:solidFill>
                <a:latin typeface="Times New Roman"/>
              </a:rPr>
              <a:t>UX design</a:t>
            </a:r>
          </a:p>
        </p:txBody>
      </p:sp>
      <p:sp>
        <p:nvSpPr>
          <p:cNvPr id="12" name="TextBox 11"/>
          <p:cNvSpPr txBox="1"/>
          <p:nvPr/>
        </p:nvSpPr>
        <p:spPr>
          <a:xfrm>
            <a:off x="7717536" y="1207008"/>
            <a:ext cx="1024128" cy="3154680"/>
          </a:xfrm>
          <a:prstGeom prst="rect">
            <a:avLst/>
          </a:prstGeom>
          <a:noFill/>
        </p:spPr>
        <p:txBody>
          <a:bodyPr wrap="square" lIns="0" rIns="0" tIns="0" bIns="0" anchor="t">
            <a:spAutoFit/>
          </a:bodyPr>
          <a:lstStyle/>
          <a:p>
            <a:pPr algn="l" marL="146304" indent="-146304">
              <a:spcAft>
                <a:spcPts val="300"/>
              </a:spcAft>
              <a:buChar char="•"/>
            </a:pPr>
            <a:r>
              <a:rPr sz="1050" b="0" i="0">
                <a:solidFill>
                  <a:srgbClr val="000000"/>
                </a:solidFill>
                <a:latin typeface="Times New Roman"/>
              </a:rPr>
              <a:t>One linear flow</a:t>
            </a:r>
          </a:p>
          <a:p>
            <a:pPr algn="l" marL="146304" indent="-146304">
              <a:spcAft>
                <a:spcPts val="300"/>
              </a:spcAft>
              <a:buChar char="•"/>
            </a:pPr>
            <a:r>
              <a:rPr sz="1050" b="0" i="0">
                <a:solidFill>
                  <a:srgbClr val="000000"/>
                </a:solidFill>
                <a:latin typeface="Times New Roman"/>
              </a:rPr>
              <a:t>Every rejection explained, with “Try again”</a:t>
            </a:r>
          </a:p>
          <a:p>
            <a:pPr algn="l" marL="146304" indent="-146304">
              <a:spcAft>
                <a:spcPts val="300"/>
              </a:spcAft>
              <a:buChar char="•"/>
            </a:pPr>
            <a:r>
              <a:rPr sz="1050" b="0" i="0">
                <a:solidFill>
                  <a:srgbClr val="000000"/>
                </a:solidFill>
                <a:latin typeface="Times New Roman"/>
              </a:rPr>
              <a:t>Progress checklist while analysing</a:t>
            </a:r>
          </a:p>
          <a:p>
            <a:pPr algn="l" marL="146304" indent="-146304">
              <a:spcAft>
                <a:spcPts val="300"/>
              </a:spcAft>
              <a:buChar char="•"/>
            </a:pPr>
            <a:r>
              <a:rPr sz="1050" b="0" i="0">
                <a:solidFill>
                  <a:srgbClr val="000000"/>
                </a:solidFill>
                <a:latin typeface="Times New Roman"/>
              </a:rPr>
              <a:t>Light / dark theme, works on phones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Design Patterns &amp; API Structure</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pic>
        <p:nvPicPr>
          <p:cNvPr id="6" name="Picture 5" descr="patterns.png"/>
          <p:cNvPicPr>
            <a:picLocks noChangeAspect="1"/>
          </p:cNvPicPr>
          <p:nvPr/>
        </p:nvPicPr>
        <p:blipFill>
          <a:blip r:embed="rId3"/>
          <a:stretch>
            <a:fillRect/>
          </a:stretch>
        </p:blipFill>
        <p:spPr>
          <a:xfrm>
            <a:off x="292608" y="822960"/>
            <a:ext cx="8558784" cy="1338509"/>
          </a:xfrm>
          <a:prstGeom prst="rect">
            <a:avLst/>
          </a:prstGeom>
          <a:ln w="9525">
            <a:solidFill>
              <a:srgbClr val="D8B5AB"/>
            </a:solidFill>
          </a:ln>
        </p:spPr>
      </p:pic>
      <p:graphicFrame>
        <p:nvGraphicFramePr>
          <p:cNvPr id="7" name="Table 6"/>
          <p:cNvGraphicFramePr>
            <a:graphicFrameLocks noGrp="1"/>
          </p:cNvGraphicFramePr>
          <p:nvPr/>
        </p:nvGraphicFramePr>
        <p:xfrm>
          <a:off x="292608" y="2267712"/>
          <a:ext cx="4206240" cy="2340864"/>
        </p:xfrm>
        <a:graphic>
          <a:graphicData uri="http://schemas.openxmlformats.org/drawingml/2006/table">
            <a:tbl>
              <a:tblPr/>
              <a:tblGrid>
                <a:gridCol w="1188720"/>
                <a:gridCol w="3017520"/>
              </a:tblGrid>
              <a:tr h="292608">
                <a:tc>
                  <a:txBody>
                    <a:bodyPr wrap="square"/>
                    <a:lstStyle/>
                    <a:p>
                      <a:r>
                        <a:rPr sz="1100" b="1" i="0">
                          <a:solidFill>
                            <a:srgbClr val="FFFFFF"/>
                          </a:solidFill>
                          <a:latin typeface="Times New Roman"/>
                        </a:rPr>
                        <a:t>Pattern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Benefit in our system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r>
              <a:tr h="292608">
                <a:tc>
                  <a:txBody>
                    <a:bodyPr wrap="square"/>
                    <a:lstStyle/>
                    <a:p>
                      <a:r>
                        <a:rPr sz="1050" b="1" i="0">
                          <a:solidFill>
                            <a:srgbClr val="7B2D1E"/>
                          </a:solidFill>
                          <a:latin typeface="Times New Roman"/>
                        </a:rPr>
                        <a:t>Facade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One module owns URL, token and errors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92608">
                <a:tc>
                  <a:txBody>
                    <a:bodyPr wrap="square"/>
                    <a:lstStyle/>
                    <a:p>
                      <a:r>
                        <a:rPr sz="1050" b="1" i="0">
                          <a:solidFill>
                            <a:srgbClr val="7B2D1E"/>
                          </a:solidFill>
                          <a:latin typeface="Times New Roman"/>
                        </a:rPr>
                        <a:t>Provider</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Login and theme state shared with every page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92608">
                <a:tc>
                  <a:txBody>
                    <a:bodyPr wrap="square"/>
                    <a:lstStyle/>
                    <a:p>
                      <a:r>
                        <a:rPr sz="1050" b="1" i="0">
                          <a:solidFill>
                            <a:srgbClr val="7B2D1E"/>
                          </a:solidFill>
                          <a:latin typeface="Times New Roman"/>
                        </a:rPr>
                        <a:t>Dependency Inj.</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One verified-user check reused by protected routes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92608">
                <a:tc>
                  <a:txBody>
                    <a:bodyPr wrap="square"/>
                    <a:lstStyle/>
                    <a:p>
                      <a:r>
                        <a:rPr sz="1050" b="1" i="0">
                          <a:solidFill>
                            <a:srgbClr val="7B2D1E"/>
                          </a:solidFill>
                          <a:latin typeface="Times New Roman"/>
                        </a:rPr>
                        <a:t>Chain of Resp.</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Each guard can stop the request with its own reason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92608">
                <a:tc>
                  <a:txBody>
                    <a:bodyPr wrap="square"/>
                    <a:lstStyle/>
                    <a:p>
                      <a:r>
                        <a:rPr sz="1050" b="1" i="0">
                          <a:solidFill>
                            <a:srgbClr val="7B2D1E"/>
                          </a:solidFill>
                          <a:latin typeface="Times New Roman"/>
                        </a:rPr>
                        <a:t>Strategy</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X-ray/CT preprocessing swaps; same pipeline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92608">
                <a:tc>
                  <a:txBody>
                    <a:bodyPr wrap="square"/>
                    <a:lstStyle/>
                    <a:p>
                      <a:r>
                        <a:rPr sz="1050" b="1" i="0">
                          <a:solidFill>
                            <a:srgbClr val="7B2D1E"/>
                          </a:solidFill>
                          <a:latin typeface="Times New Roman"/>
                        </a:rPr>
                        <a:t>Singleton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Six models loaded once, shared safely behind a lock</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92608">
                <a:tc>
                  <a:txBody>
                    <a:bodyPr wrap="square"/>
                    <a:lstStyle/>
                    <a:p>
                      <a:r>
                        <a:rPr sz="1050" b="1" i="0">
                          <a:solidFill>
                            <a:srgbClr val="7B2D1E"/>
                          </a:solidFill>
                          <a:latin typeface="Times New Roman"/>
                        </a:rPr>
                        <a:t>Fallback</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A report is always returned, even if the LLM is down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bl>
          </a:graphicData>
        </a:graphic>
      </p:graphicFrame>
      <p:graphicFrame>
        <p:nvGraphicFramePr>
          <p:cNvPr id="8" name="Table 7"/>
          <p:cNvGraphicFramePr>
            <a:graphicFrameLocks noGrp="1"/>
          </p:cNvGraphicFramePr>
          <p:nvPr/>
        </p:nvGraphicFramePr>
        <p:xfrm>
          <a:off x="4645152" y="2267712"/>
          <a:ext cx="4206240" cy="2340864"/>
        </p:xfrm>
        <a:graphic>
          <a:graphicData uri="http://schemas.openxmlformats.org/drawingml/2006/table">
            <a:tbl>
              <a:tblPr/>
              <a:tblGrid>
                <a:gridCol w="932688"/>
                <a:gridCol w="1828800"/>
                <a:gridCol w="1444752"/>
              </a:tblGrid>
              <a:tr h="292608">
                <a:tc>
                  <a:txBody>
                    <a:bodyPr wrap="square"/>
                    <a:lstStyle/>
                    <a:p>
                      <a:r>
                        <a:rPr sz="1100" b="1" i="0">
                          <a:solidFill>
                            <a:srgbClr val="FFFFFF"/>
                          </a:solidFill>
                          <a:latin typeface="Times New Roman"/>
                        </a:rPr>
                        <a:t>Type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Interface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Used for</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r>
              <a:tr h="292608">
                <a:tc>
                  <a:txBody>
                    <a:bodyPr wrap="square"/>
                    <a:lstStyle/>
                    <a:p>
                      <a:r>
                        <a:rPr sz="1050" b="1" i="0">
                          <a:solidFill>
                            <a:srgbClr val="7B2D1E"/>
                          </a:solidFill>
                          <a:latin typeface="Times New Roman"/>
                        </a:rPr>
                        <a:t>Web API</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POST /predict/xray, /predict/ct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Analyse a scan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92608">
                <a:tc>
                  <a:txBody>
                    <a:bodyPr wrap="square"/>
                    <a:lstStyle/>
                    <a:p>
                      <a:r>
                        <a:rPr sz="1050" b="1" i="0">
                          <a:solidFill>
                            <a:srgbClr val="7B2D1E"/>
                          </a:solidFill>
                          <a:latin typeface="Times New Roman"/>
                        </a:rPr>
                        <a:t>Web API</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POST /chat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Chat assistant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92608">
                <a:tc>
                  <a:txBody>
                    <a:bodyPr wrap="square"/>
                    <a:lstStyle/>
                    <a:p>
                      <a:r>
                        <a:rPr sz="1050" b="1" i="0">
                          <a:solidFill>
                            <a:srgbClr val="7B2D1E"/>
                          </a:solidFill>
                          <a:latin typeface="Times New Roman"/>
                        </a:rPr>
                        <a:t>Web API</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/auth/* (9 routes)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Sign-up, login, reset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92608">
                <a:tc>
                  <a:txBody>
                    <a:bodyPr wrap="square"/>
                    <a:lstStyle/>
                    <a:p>
                      <a:r>
                        <a:rPr sz="1050" b="1" i="0">
                          <a:solidFill>
                            <a:srgbClr val="7B2D1E"/>
                          </a:solidFill>
                          <a:latin typeface="Times New Roman"/>
                        </a:rPr>
                        <a:t>Web API</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GET /scans/history, /health</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History, status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92608">
                <a:tc>
                  <a:txBody>
                    <a:bodyPr wrap="square"/>
                    <a:lstStyle/>
                    <a:p>
                      <a:r>
                        <a:rPr sz="1050" b="1" i="0">
                          <a:solidFill>
                            <a:srgbClr val="7B2D1E"/>
                          </a:solidFill>
                          <a:latin typeface="Times New Roman"/>
                        </a:rPr>
                        <a:t>Remote API</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Groq (gpt-oss-120b)</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Report and chat text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292608">
                <a:tc>
                  <a:txBody>
                    <a:bodyPr wrap="square"/>
                    <a:lstStyle/>
                    <a:p>
                      <a:r>
                        <a:rPr sz="1050" b="1" i="0">
                          <a:solidFill>
                            <a:srgbClr val="7B2D1E"/>
                          </a:solidFill>
                          <a:latin typeface="Times New Roman"/>
                        </a:rPr>
                        <a:t>Remote API</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Gmail SMTP, OAuth 2.0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Email, Google sign-in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292608">
                <a:tc>
                  <a:txBody>
                    <a:bodyPr wrap="square"/>
                    <a:lstStyle/>
                    <a:p>
                      <a:r>
                        <a:rPr sz="1050" b="1" i="0">
                          <a:solidFill>
                            <a:srgbClr val="7B2D1E"/>
                          </a:solidFill>
                          <a:latin typeface="Times New Roman"/>
                        </a:rPr>
                        <a:t>Library API</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PyTorch, OpenCV</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Models and images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Detailed Design: Algorithm Selection</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graphicFrame>
        <p:nvGraphicFramePr>
          <p:cNvPr id="6" name="Table 5"/>
          <p:cNvGraphicFramePr>
            <a:graphicFrameLocks noGrp="1"/>
          </p:cNvGraphicFramePr>
          <p:nvPr/>
        </p:nvGraphicFramePr>
        <p:xfrm>
          <a:off x="292608" y="822960"/>
          <a:ext cx="8558784" cy="3200400"/>
        </p:xfrm>
        <a:graphic>
          <a:graphicData uri="http://schemas.openxmlformats.org/drawingml/2006/table">
            <a:tbl>
              <a:tblPr/>
              <a:tblGrid>
                <a:gridCol w="1280160"/>
                <a:gridCol w="2743200"/>
                <a:gridCol w="1371600"/>
                <a:gridCol w="3163824"/>
              </a:tblGrid>
              <a:tr h="457200">
                <a:tc>
                  <a:txBody>
                    <a:bodyPr wrap="square"/>
                    <a:lstStyle/>
                    <a:p>
                      <a:r>
                        <a:rPr sz="1100" b="1" i="0">
                          <a:solidFill>
                            <a:srgbClr val="FFFFFF"/>
                          </a:solidFill>
                          <a:latin typeface="Times New Roman"/>
                        </a:rPr>
                        <a:t>Module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Existing algorithms identified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Selected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c>
                  <a:txBody>
                    <a:bodyPr wrap="square"/>
                    <a:lstStyle/>
                    <a:p>
                      <a:r>
                        <a:rPr sz="1100" b="1" i="0">
                          <a:solidFill>
                            <a:srgbClr val="FFFFFF"/>
                          </a:solidFill>
                          <a:latin typeface="Times New Roman"/>
                        </a:rPr>
                        <a:t>Why selected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7B2D1E"/>
                    </a:solidFill>
                  </a:tcPr>
                </a:tc>
              </a:tr>
              <a:tr h="457200">
                <a:tc>
                  <a:txBody>
                    <a:bodyPr wrap="square"/>
                    <a:lstStyle/>
                    <a:p>
                      <a:r>
                        <a:rPr sz="1050" b="1" i="0">
                          <a:solidFill>
                            <a:srgbClr val="7B2D1E"/>
                          </a:solidFill>
                          <a:latin typeface="Times New Roman"/>
                        </a:rPr>
                        <a:t>Disease classifier</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VGG-16, ResNet-50, Inception-v3, EfficientNet-B0, DenseNet-121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DenseNet-121</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Top weighted score (4.75); chest-X-ray weights; 8.0 M params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457200">
                <a:tc>
                  <a:txBody>
                    <a:bodyPr wrap="square"/>
                    <a:lstStyle/>
                    <a:p>
                      <a:r>
                        <a:rPr sz="1050" b="1" i="0">
                          <a:solidFill>
                            <a:srgbClr val="7B2D1E"/>
                          </a:solidFill>
                          <a:latin typeface="Times New Roman"/>
                        </a:rPr>
                        <a:t>Lung segmentation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Otsu thresholding, FCN, SegNet, U-Net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U-Net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Skip connections keep lung borders; Dice 0.98 on validation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457200">
                <a:tc>
                  <a:txBody>
                    <a:bodyPr wrap="square"/>
                    <a:lstStyle/>
                    <a:p>
                      <a:r>
                        <a:rPr sz="1050" b="1" i="0">
                          <a:solidFill>
                            <a:srgbClr val="7B2D1E"/>
                          </a:solidFill>
                          <a:latin typeface="Times New Roman"/>
                        </a:rPr>
                        <a:t>Scan &amp; modality gates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Rule checks only, OOD check only, CNN binary classifier</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ResNet-18 + rules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OOD alone let a CT slice through the X-ray route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457200">
                <a:tc>
                  <a:txBody>
                    <a:bodyPr wrap="square"/>
                    <a:lstStyle/>
                    <a:p>
                      <a:r>
                        <a:rPr sz="1050" b="1" i="0">
                          <a:solidFill>
                            <a:srgbClr val="7B2D1E"/>
                          </a:solidFill>
                          <a:latin typeface="Times New Roman"/>
                        </a:rPr>
                        <a:t>OOD detection</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Max-softmax, ODIN, Mahalanobis, energy score, centroid distance</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Centroid L2, 99th pct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No retraining; Mahalanobis needs a 1024×1024 covariance, but CT has 829 images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r h="457200">
                <a:tc>
                  <a:txBody>
                    <a:bodyPr wrap="square"/>
                    <a:lstStyle/>
                    <a:p>
                      <a:r>
                        <a:rPr sz="1050" b="1" i="0">
                          <a:solidFill>
                            <a:srgbClr val="7B2D1E"/>
                          </a:solidFill>
                          <a:latin typeface="Times New Roman"/>
                        </a:rPr>
                        <a:t>Explainability</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Saliency maps, LIME, SHAP, Grad-CAM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Grad-CAM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c>
                  <a:txBody>
                    <a:bodyPr wrap="square"/>
                    <a:lstStyle/>
                    <a:p>
                      <a:r>
                        <a:rPr sz="1050" b="0" i="0">
                          <a:solidFill>
                            <a:srgbClr val="000000"/>
                          </a:solidFill>
                          <a:latin typeface="Times New Roman"/>
                        </a:rPr>
                        <a:t>Class-specific, one backward pass; LIME/SHAP need hundreds of passes</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FFFFFF"/>
                    </a:solidFill>
                  </a:tcPr>
                </a:tc>
              </a:tr>
              <a:tr h="457200">
                <a:tc>
                  <a:txBody>
                    <a:bodyPr wrap="square"/>
                    <a:lstStyle/>
                    <a:p>
                      <a:r>
                        <a:rPr sz="1050" b="1" i="0">
                          <a:solidFill>
                            <a:srgbClr val="7B2D1E"/>
                          </a:solidFill>
                          <a:latin typeface="Times New Roman"/>
                        </a:rPr>
                        <a:t>CT leakage audit</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Random split, patient-ID split, perceptual hash + SSIM</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pHash + SSIM, union-find</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c>
                  <a:txBody>
                    <a:bodyPr wrap="square"/>
                    <a:lstStyle/>
                    <a:p>
                      <a:r>
                        <a:rPr sz="1050" b="0" i="0">
                          <a:solidFill>
                            <a:srgbClr val="000000"/>
                          </a:solidFill>
                          <a:latin typeface="Times New Roman"/>
                        </a:rPr>
                        <a:t>No patient IDs in the data; random split gave a false 100%</a:t>
                      </a:r>
                    </a:p>
                  </a:txBody>
                  <a:tcPr marL="64008" marR="64008" marT="22860" marB="22860" anchor="ctr">
                    <a:lnL w="9525">
                      <a:solidFill>
                        <a:srgbClr val="C9C9C9"/>
                      </a:solidFill>
                    </a:lnL>
                    <a:lnR w="9525">
                      <a:solidFill>
                        <a:srgbClr val="C9C9C9"/>
                      </a:solidFill>
                    </a:lnR>
                    <a:lnT w="9525">
                      <a:solidFill>
                        <a:srgbClr val="C9C9C9"/>
                      </a:solidFill>
                    </a:lnT>
                    <a:lnB w="9525">
                      <a:solidFill>
                        <a:srgbClr val="C9C9C9"/>
                      </a:solidFill>
                    </a:lnB>
                    <a:solidFill>
                      <a:srgbClr val="EAD1DC"/>
                    </a:solidFill>
                  </a:tcPr>
                </a:tc>
              </a:tr>
            </a:tbl>
          </a:graphicData>
        </a:graphic>
      </p:graphicFrame>
      <p:sp>
        <p:nvSpPr>
          <p:cNvPr id="7" name="Rounded Rectangle 6"/>
          <p:cNvSpPr/>
          <p:nvPr/>
        </p:nvSpPr>
        <p:spPr>
          <a:xfrm>
            <a:off x="292608" y="4224528"/>
            <a:ext cx="8558784" cy="548640"/>
          </a:xfrm>
          <a:prstGeom prst="roundRect">
            <a:avLst>
              <a:gd name="adj" fmla="val 6000"/>
            </a:avLst>
          </a:prstGeom>
          <a:solidFill>
            <a:srgbClr val="FCE5CD"/>
          </a:solidFill>
          <a:ln w="95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224528"/>
            <a:ext cx="8229600" cy="548640"/>
          </a:xfrm>
          <a:prstGeom prst="rect">
            <a:avLst/>
          </a:prstGeom>
          <a:noFill/>
        </p:spPr>
        <p:txBody>
          <a:bodyPr wrap="square" lIns="0" rIns="0" tIns="0" bIns="0" anchor="ctr">
            <a:spAutoFit/>
          </a:bodyPr>
          <a:lstStyle/>
          <a:p>
            <a:pPr algn="l"/>
            <a:r>
              <a:rPr sz="1200" b="1" i="0">
                <a:solidFill>
                  <a:srgbClr val="7B2D1E"/>
                </a:solidFill>
                <a:latin typeface="Times New Roman"/>
              </a:rPr>
              <a:t>Basis:  </a:t>
            </a:r>
            <a:r>
              <a:rPr sz="1200" b="0" i="0">
                <a:solidFill>
                  <a:srgbClr val="000000"/>
                </a:solidFill>
                <a:latin typeface="Times New Roman"/>
              </a:rPr>
              <a:t>every choice is checked against the constraints on Slide 4: laptop CPU, small single-source CT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Pseudo Code &amp; Mathematical Models</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sp>
        <p:nvSpPr>
          <p:cNvPr id="6" name="Rounded Rectangle 5"/>
          <p:cNvSpPr/>
          <p:nvPr/>
        </p:nvSpPr>
        <p:spPr>
          <a:xfrm>
            <a:off x="292608" y="822960"/>
            <a:ext cx="5120640" cy="3977639"/>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932688"/>
            <a:ext cx="4892040" cy="3749039"/>
          </a:xfrm>
          <a:prstGeom prst="rect">
            <a:avLst/>
          </a:prstGeom>
          <a:noFill/>
        </p:spPr>
        <p:txBody>
          <a:bodyPr wrap="square" lIns="0" rIns="0" tIns="0" bIns="0" anchor="t">
            <a:spAutoFit/>
          </a:bodyPr>
          <a:lstStyle/>
          <a:p>
            <a:pPr algn="l">
              <a:spcAft>
                <a:spcPts val="300"/>
              </a:spcAft>
            </a:pPr>
            <a:r>
              <a:rPr sz="1200" b="1" i="0">
                <a:solidFill>
                  <a:srgbClr val="7B2D1E"/>
                </a:solidFill>
                <a:latin typeface="Times New Roman"/>
              </a:rPr>
              <a:t>Algorithm 1: Predict(f, m, u)</a:t>
            </a:r>
          </a:p>
          <a:p>
            <a:pPr algn="l">
              <a:spcAft>
                <a:spcPts val="300"/>
              </a:spcAft>
            </a:pPr>
            <a:r>
              <a:rPr sz="1050" b="1" i="0">
                <a:solidFill>
                  <a:srgbClr val="000000"/>
                </a:solidFill>
                <a:latin typeface="Courier New"/>
              </a:rPr>
              <a:t>Input : </a:t>
            </a:r>
            <a:r>
              <a:rPr sz="1050" b="0" i="0">
                <a:solidFill>
                  <a:srgbClr val="000000"/>
                </a:solidFill>
                <a:latin typeface="Courier New"/>
              </a:rPr>
              <a:t>image file f, modality m ∈ {xray, ct}, user u</a:t>
            </a:r>
          </a:p>
          <a:p>
            <a:pPr algn="l">
              <a:spcAft>
                <a:spcPts val="300"/>
              </a:spcAft>
            </a:pPr>
            <a:r>
              <a:rPr sz="1050" b="1" i="0">
                <a:solidFill>
                  <a:srgbClr val="000000"/>
                </a:solidFill>
                <a:latin typeface="Courier New"/>
              </a:rPr>
              <a:t>Output: </a:t>
            </a:r>
            <a:r>
              <a:rPr sz="1050" b="0" i="0">
                <a:solidFill>
                  <a:srgbClr val="000000"/>
                </a:solidFill>
                <a:latin typeface="Courier New"/>
              </a:rPr>
              <a:t>class, confidence, probs, heatmap, report</a:t>
            </a:r>
          </a:p>
          <a:p>
            <a:pPr algn="l">
              <a:spcAft>
                <a:spcPts val="300"/>
              </a:spcAft>
            </a:pPr>
            <a:r>
              <a:rPr sz="1050" b="0" i="0">
                <a:solidFill>
                  <a:srgbClr val="000000"/>
                </a:solidFill>
                <a:latin typeface="Courier New"/>
              </a:rPr>
              <a:t>        or an HTTP error with a reason</a:t>
            </a:r>
          </a:p>
          <a:p>
            <a:pPr algn="l">
              <a:spcAft>
                <a:spcPts val="300"/>
              </a:spcAft>
            </a:pPr>
            <a:r>
              <a:rPr sz="1050" b="0" i="0">
                <a:solidFill>
                  <a:srgbClr val="000000"/>
                </a:solidFill>
                <a:latin typeface="Courier New"/>
              </a:rPr>
              <a:t> 1  if u signed in and not verified: return 403</a:t>
            </a:r>
          </a:p>
          <a:p>
            <a:pPr algn="l">
              <a:spcAft>
                <a:spcPts val="300"/>
              </a:spcAft>
            </a:pPr>
            <a:r>
              <a:rPr sz="1050" b="0" i="0">
                <a:solidFill>
                  <a:srgbClr val="000000"/>
                </a:solidFill>
                <a:latin typeface="Courier New"/>
              </a:rPr>
              <a:t> 2  img ← decode(f)     // 413 if &gt;10 MB, 400 if bad</a:t>
            </a:r>
          </a:p>
          <a:p>
            <a:pPr algn="l">
              <a:spcAft>
                <a:spcPts val="300"/>
              </a:spcAft>
            </a:pPr>
            <a:r>
              <a:rPr sz="1050" b="0" i="0">
                <a:solidFill>
                  <a:srgbClr val="000000"/>
                </a:solidFill>
                <a:latin typeface="Courier New"/>
              </a:rPr>
              <a:t> 3  if std(grey(img)) &lt; 10 or colour &gt; 20: return 400</a:t>
            </a:r>
          </a:p>
          <a:p>
            <a:pPr algn="l">
              <a:spcAft>
                <a:spcPts val="300"/>
              </a:spcAft>
            </a:pPr>
            <a:r>
              <a:rPr sz="1050" b="0" i="0">
                <a:solidFill>
                  <a:srgbClr val="000000"/>
                </a:solidFill>
                <a:latin typeface="Courier New"/>
              </a:rPr>
              <a:t> 4  x ← preprocess(img)</a:t>
            </a:r>
          </a:p>
          <a:p>
            <a:pPr algn="l">
              <a:spcAft>
                <a:spcPts val="300"/>
              </a:spcAft>
            </a:pPr>
            <a:r>
              <a:rPr sz="1050" b="0" i="0">
                <a:solidFill>
                  <a:srgbClr val="000000"/>
                </a:solidFill>
                <a:latin typeface="Courier New"/>
              </a:rPr>
              <a:t> 5  if SanityGate_m(x) ≠ scan: return 422</a:t>
            </a:r>
          </a:p>
          <a:p>
            <a:pPr algn="l">
              <a:spcAft>
                <a:spcPts val="300"/>
              </a:spcAft>
            </a:pPr>
            <a:r>
              <a:rPr sz="1050" b="0" i="0">
                <a:solidFill>
                  <a:srgbClr val="000000"/>
                </a:solidFill>
                <a:latin typeface="Courier New"/>
              </a:rPr>
              <a:t> 6  (m', p) ← ModalityGate(x)</a:t>
            </a:r>
          </a:p>
          <a:p>
            <a:pPr algn="l">
              <a:spcAft>
                <a:spcPts val="300"/>
              </a:spcAft>
            </a:pPr>
            <a:r>
              <a:rPr sz="1050" b="0" i="0">
                <a:solidFill>
                  <a:srgbClr val="000000"/>
                </a:solidFill>
                <a:latin typeface="Courier New"/>
              </a:rPr>
              <a:t> 7  if p &lt; 0.90 or m' ≠ m: return 422</a:t>
            </a:r>
          </a:p>
          <a:p>
            <a:pPr algn="l">
              <a:spcAft>
                <a:spcPts val="300"/>
              </a:spcAft>
            </a:pPr>
            <a:r>
              <a:rPr sz="1050" b="0" i="0">
                <a:solidFill>
                  <a:srgbClr val="000000"/>
                </a:solidFill>
                <a:latin typeface="Courier New"/>
              </a:rPr>
              <a:t> 8  if m = xray: x ← preprocess(LungCrop(img))</a:t>
            </a:r>
          </a:p>
          <a:p>
            <a:pPr algn="l">
              <a:spcAft>
                <a:spcPts val="300"/>
              </a:spcAft>
            </a:pPr>
            <a:r>
              <a:rPr sz="1050" b="0" i="0">
                <a:solidFill>
                  <a:srgbClr val="000000"/>
                </a:solidFill>
                <a:latin typeface="Courier New"/>
              </a:rPr>
              <a:t> 9  lock classifier_m</a:t>
            </a:r>
          </a:p>
          <a:p>
            <a:pPr algn="l">
              <a:spcAft>
                <a:spcPts val="300"/>
              </a:spcAft>
            </a:pPr>
            <a:r>
              <a:rPr sz="1050" b="0" i="0">
                <a:solidFill>
                  <a:srgbClr val="000000"/>
                </a:solidFill>
                <a:latin typeface="Courier New"/>
              </a:rPr>
              <a:t>10  if ‖φ(x) − μ_m‖ &gt; τ_m: unlock; return 422</a:t>
            </a:r>
          </a:p>
          <a:p>
            <a:pPr algn="l">
              <a:spcAft>
                <a:spcPts val="300"/>
              </a:spcAft>
            </a:pPr>
            <a:r>
              <a:rPr sz="1050" b="0" i="0">
                <a:solidFill>
                  <a:srgbClr val="000000"/>
                </a:solidFill>
                <a:latin typeface="Courier New"/>
              </a:rPr>
              <a:t>11  (probs, heatmap) ← Classifier_m(x) + Grad-CAM</a:t>
            </a:r>
          </a:p>
          <a:p>
            <a:pPr algn="l">
              <a:spcAft>
                <a:spcPts val="300"/>
              </a:spcAft>
            </a:pPr>
            <a:r>
              <a:rPr sz="1050" b="0" i="0">
                <a:solidFill>
                  <a:srgbClr val="000000"/>
                </a:solidFill>
                <a:latin typeface="Courier New"/>
              </a:rPr>
              <a:t>12  unlock; warn if max(probs) &lt; c_m</a:t>
            </a:r>
          </a:p>
          <a:p>
            <a:pPr algn="l">
              <a:spcAft>
                <a:spcPts val="300"/>
              </a:spcAft>
            </a:pPr>
            <a:r>
              <a:rPr sz="1050" b="0" i="0">
                <a:solidFill>
                  <a:srgbClr val="000000"/>
                </a:solidFill>
                <a:latin typeface="Courier New"/>
              </a:rPr>
              <a:t>13  report ← LLM(m, probs) or template</a:t>
            </a:r>
          </a:p>
          <a:p>
            <a:pPr algn="l">
              <a:spcAft>
                <a:spcPts val="300"/>
              </a:spcAft>
            </a:pPr>
            <a:r>
              <a:rPr sz="1050" b="0" i="0">
                <a:solidFill>
                  <a:srgbClr val="000000"/>
                </a:solidFill>
                <a:latin typeface="Courier New"/>
              </a:rPr>
              <a:t>14  if u signed in: save scan;  return result</a:t>
            </a:r>
          </a:p>
        </p:txBody>
      </p:sp>
      <p:sp>
        <p:nvSpPr>
          <p:cNvPr id="8" name="Rounded Rectangle 7"/>
          <p:cNvSpPr/>
          <p:nvPr/>
        </p:nvSpPr>
        <p:spPr>
          <a:xfrm>
            <a:off x="5596128" y="822960"/>
            <a:ext cx="3255264" cy="100584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05856" y="886968"/>
            <a:ext cx="3063240" cy="246888"/>
          </a:xfrm>
          <a:prstGeom prst="rect">
            <a:avLst/>
          </a:prstGeom>
          <a:noFill/>
        </p:spPr>
        <p:txBody>
          <a:bodyPr wrap="square" lIns="0" rIns="0" tIns="0" bIns="0" anchor="t">
            <a:spAutoFit/>
          </a:bodyPr>
          <a:lstStyle/>
          <a:p>
            <a:pPr algn="l"/>
            <a:r>
              <a:rPr sz="1150" b="1" i="0">
                <a:solidFill>
                  <a:srgbClr val="7B2D1E"/>
                </a:solidFill>
                <a:latin typeface="Times New Roman"/>
              </a:rPr>
              <a:t>OOD detector (Module 5)</a:t>
            </a:r>
          </a:p>
        </p:txBody>
      </p:sp>
      <p:pic>
        <p:nvPicPr>
          <p:cNvPr id="10" name="Picture 9" descr="ood1.png"/>
          <p:cNvPicPr>
            <a:picLocks noChangeAspect="1"/>
          </p:cNvPicPr>
          <p:nvPr/>
        </p:nvPicPr>
        <p:blipFill>
          <a:blip r:embed="rId3"/>
          <a:stretch>
            <a:fillRect/>
          </a:stretch>
        </p:blipFill>
        <p:spPr>
          <a:xfrm>
            <a:off x="5705856" y="1170432"/>
            <a:ext cx="2837809" cy="420624"/>
          </a:xfrm>
          <a:prstGeom prst="rect">
            <a:avLst/>
          </a:prstGeom>
        </p:spPr>
      </p:pic>
      <p:pic>
        <p:nvPicPr>
          <p:cNvPr id="11" name="Picture 10" descr="ood2.png"/>
          <p:cNvPicPr>
            <a:picLocks noChangeAspect="1"/>
          </p:cNvPicPr>
          <p:nvPr/>
        </p:nvPicPr>
        <p:blipFill>
          <a:blip r:embed="rId4"/>
          <a:stretch>
            <a:fillRect/>
          </a:stretch>
        </p:blipFill>
        <p:spPr>
          <a:xfrm>
            <a:off x="5705856" y="1645920"/>
            <a:ext cx="3017520" cy="163361"/>
          </a:xfrm>
          <a:prstGeom prst="rect">
            <a:avLst/>
          </a:prstGeom>
        </p:spPr>
      </p:pic>
      <p:sp>
        <p:nvSpPr>
          <p:cNvPr id="12" name="Rounded Rectangle 11"/>
          <p:cNvSpPr/>
          <p:nvPr/>
        </p:nvSpPr>
        <p:spPr>
          <a:xfrm>
            <a:off x="5596128" y="1892808"/>
            <a:ext cx="3255264" cy="109728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05856" y="1956816"/>
            <a:ext cx="3063240" cy="246888"/>
          </a:xfrm>
          <a:prstGeom prst="rect">
            <a:avLst/>
          </a:prstGeom>
          <a:noFill/>
        </p:spPr>
        <p:txBody>
          <a:bodyPr wrap="square" lIns="0" rIns="0" tIns="0" bIns="0" anchor="t">
            <a:spAutoFit/>
          </a:bodyPr>
          <a:lstStyle/>
          <a:p>
            <a:pPr algn="l"/>
            <a:r>
              <a:rPr sz="1150" b="1" i="0">
                <a:solidFill>
                  <a:srgbClr val="7B2D1E"/>
                </a:solidFill>
                <a:latin typeface="Times New Roman"/>
              </a:rPr>
              <a:t>Grad-CAM (Module 6)</a:t>
            </a:r>
          </a:p>
        </p:txBody>
      </p:sp>
      <p:pic>
        <p:nvPicPr>
          <p:cNvPr id="14" name="Picture 13" descr="gc1.png"/>
          <p:cNvPicPr>
            <a:picLocks noChangeAspect="1"/>
          </p:cNvPicPr>
          <p:nvPr/>
        </p:nvPicPr>
        <p:blipFill>
          <a:blip r:embed="rId5"/>
          <a:stretch>
            <a:fillRect/>
          </a:stretch>
        </p:blipFill>
        <p:spPr>
          <a:xfrm>
            <a:off x="5705856" y="2240280"/>
            <a:ext cx="914156" cy="370149"/>
          </a:xfrm>
          <a:prstGeom prst="rect">
            <a:avLst/>
          </a:prstGeom>
        </p:spPr>
      </p:pic>
      <p:pic>
        <p:nvPicPr>
          <p:cNvPr id="15" name="Picture 14" descr="gc2.png"/>
          <p:cNvPicPr>
            <a:picLocks noChangeAspect="1"/>
          </p:cNvPicPr>
          <p:nvPr/>
        </p:nvPicPr>
        <p:blipFill>
          <a:blip r:embed="rId6"/>
          <a:stretch>
            <a:fillRect/>
          </a:stretch>
        </p:blipFill>
        <p:spPr>
          <a:xfrm>
            <a:off x="5705856" y="2665293"/>
            <a:ext cx="1895612" cy="333695"/>
          </a:xfrm>
          <a:prstGeom prst="rect">
            <a:avLst/>
          </a:prstGeom>
        </p:spPr>
      </p:pic>
      <p:sp>
        <p:nvSpPr>
          <p:cNvPr id="16" name="Rounded Rectangle 15"/>
          <p:cNvSpPr/>
          <p:nvPr/>
        </p:nvSpPr>
        <p:spPr>
          <a:xfrm>
            <a:off x="5596128" y="3054096"/>
            <a:ext cx="3255264" cy="73152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05856" y="3118104"/>
            <a:ext cx="3063240" cy="246888"/>
          </a:xfrm>
          <a:prstGeom prst="rect">
            <a:avLst/>
          </a:prstGeom>
          <a:noFill/>
        </p:spPr>
        <p:txBody>
          <a:bodyPr wrap="square" lIns="0" rIns="0" tIns="0" bIns="0" anchor="t">
            <a:spAutoFit/>
          </a:bodyPr>
          <a:lstStyle/>
          <a:p>
            <a:pPr algn="l"/>
            <a:r>
              <a:rPr sz="1150" b="1" i="0">
                <a:solidFill>
                  <a:srgbClr val="7B2D1E"/>
                </a:solidFill>
                <a:latin typeface="Times New Roman"/>
              </a:rPr>
              <a:t>Class-weighted loss (Module 2)</a:t>
            </a:r>
          </a:p>
        </p:txBody>
      </p:sp>
      <p:pic>
        <p:nvPicPr>
          <p:cNvPr id="18" name="Picture 17" descr="wl.png"/>
          <p:cNvPicPr>
            <a:picLocks noChangeAspect="1"/>
          </p:cNvPicPr>
          <p:nvPr/>
        </p:nvPicPr>
        <p:blipFill>
          <a:blip r:embed="rId7"/>
          <a:stretch>
            <a:fillRect/>
          </a:stretch>
        </p:blipFill>
        <p:spPr>
          <a:xfrm>
            <a:off x="5705856" y="3401568"/>
            <a:ext cx="2055449" cy="235549"/>
          </a:xfrm>
          <a:prstGeom prst="rect">
            <a:avLst/>
          </a:prstGeom>
        </p:spPr>
      </p:pic>
      <p:sp>
        <p:nvSpPr>
          <p:cNvPr id="19" name="Rounded Rectangle 18"/>
          <p:cNvSpPr/>
          <p:nvPr/>
        </p:nvSpPr>
        <p:spPr>
          <a:xfrm>
            <a:off x="5596128" y="3849624"/>
            <a:ext cx="3255264" cy="91440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05856" y="3913632"/>
            <a:ext cx="3063240" cy="246888"/>
          </a:xfrm>
          <a:prstGeom prst="rect">
            <a:avLst/>
          </a:prstGeom>
          <a:noFill/>
        </p:spPr>
        <p:txBody>
          <a:bodyPr wrap="square" lIns="0" rIns="0" tIns="0" bIns="0" anchor="t">
            <a:spAutoFit/>
          </a:bodyPr>
          <a:lstStyle/>
          <a:p>
            <a:pPr algn="l"/>
            <a:r>
              <a:rPr sz="1150" b="1" i="0">
                <a:solidFill>
                  <a:srgbClr val="7B2D1E"/>
                </a:solidFill>
                <a:latin typeface="Times New Roman"/>
              </a:rPr>
              <a:t>Lung crop (Module 4)</a:t>
            </a:r>
          </a:p>
        </p:txBody>
      </p:sp>
      <p:pic>
        <p:nvPicPr>
          <p:cNvPr id="21" name="Picture 20" descr="crop.png"/>
          <p:cNvPicPr>
            <a:picLocks noChangeAspect="1"/>
          </p:cNvPicPr>
          <p:nvPr/>
        </p:nvPicPr>
        <p:blipFill>
          <a:blip r:embed="rId8"/>
          <a:stretch>
            <a:fillRect/>
          </a:stretch>
        </p:blipFill>
        <p:spPr>
          <a:xfrm>
            <a:off x="5705856" y="4197096"/>
            <a:ext cx="2986430" cy="196291"/>
          </a:xfrm>
          <a:prstGeom prst="rect">
            <a:avLst/>
          </a:prstGeom>
        </p:spPr>
      </p:pic>
      <p:sp>
        <p:nvSpPr>
          <p:cNvPr id="22" name="TextBox 21"/>
          <p:cNvSpPr txBox="1"/>
          <p:nvPr/>
        </p:nvSpPr>
        <p:spPr>
          <a:xfrm>
            <a:off x="5705856" y="4448251"/>
            <a:ext cx="3063240" cy="274320"/>
          </a:xfrm>
          <a:prstGeom prst="rect">
            <a:avLst/>
          </a:prstGeom>
          <a:noFill/>
        </p:spPr>
        <p:txBody>
          <a:bodyPr wrap="square" lIns="0" rIns="0" tIns="0" bIns="0" anchor="t">
            <a:spAutoFit/>
          </a:bodyPr>
          <a:lstStyle/>
          <a:p>
            <a:pPr algn="l"/>
            <a:r>
              <a:rPr sz="1050" b="0" i="0">
                <a:solidFill>
                  <a:srgbClr val="000000"/>
                </a:solidFill>
                <a:latin typeface="Times New Roman"/>
              </a:rPr>
              <a:t>fallback: 8% border crop if box &lt;5% or &gt;98% of image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92608" y="91440"/>
            <a:ext cx="6537960" cy="530352"/>
          </a:xfrm>
          <a:prstGeom prst="rect">
            <a:avLst/>
          </a:prstGeom>
          <a:noFill/>
          <a:ln/>
        </p:spPr>
        <p:txBody>
          <a:bodyPr wrap="square" lIns="0" tIns="0" rIns="0" bIns="0" rtlCol="0" anchor="ctr"/>
          <a:lstStyle/>
          <a:p>
            <a:pPr indent="0" marL="0">
              <a:buNone/>
            </a:pPr>
            <a:r>
              <a:rPr lang="en-US" sz="2200" dirty="0">
                <a:solidFill>
                  <a:srgbClr val="000000"/>
                </a:solidFill>
                <a:latin typeface="Garamond" pitchFamily="34" charset="0"/>
                <a:ea typeface="Garamond" pitchFamily="34" charset="-122"/>
                <a:cs typeface="Garamond" pitchFamily="34" charset="-120"/>
              </a:rPr>
              <a:t>Implementation, Integration &amp; Testing</a:t>
            </a:r>
            <a:endParaRPr lang="en-US" sz="2200" dirty="0"/>
          </a:p>
        </p:txBody>
      </p:sp>
      <p:sp>
        <p:nvSpPr>
          <p:cNvPr id="3" name="Shape 1"/>
          <p:cNvSpPr/>
          <p:nvPr/>
        </p:nvSpPr>
        <p:spPr>
          <a:xfrm>
            <a:off x="292608" y="658368"/>
            <a:ext cx="8558784" cy="0"/>
          </a:xfrm>
          <a:prstGeom prst="line">
            <a:avLst/>
          </a:prstGeom>
          <a:noFill/>
          <a:ln w="19050">
            <a:solidFill>
              <a:srgbClr val="ED7D31"/>
            </a:solidFill>
            <a:prstDash val="solid"/>
          </a:ln>
        </p:spPr>
        <p:txBody>
          <a:bodyPr/>
          <a:p/>
        </p:txBody>
      </p:sp>
      <p:pic>
        <p:nvPicPr>
          <p:cNvPr id="4" name="Image 0" descr="img/logo.png">    </p:cNvPr>
          <p:cNvPicPr>
            <a:picLocks noChangeAspect="1"/>
          </p:cNvPicPr>
          <p:nvPr/>
        </p:nvPicPr>
        <p:blipFill>
          <a:blip r:embed="rId1"/>
          <a:stretch>
            <a:fillRect/>
          </a:stretch>
        </p:blipFill>
        <p:spPr>
          <a:xfrm>
            <a:off x="6903720" y="182880"/>
            <a:ext cx="1874520" cy="446227"/>
          </a:xfrm>
          <a:prstGeom prst="rect">
            <a:avLst/>
          </a:prstGeom>
        </p:spPr>
      </p:pic>
      <p:pic>
        <p:nvPicPr>
          <p:cNvPr id="5" name="Picture 4" descr="c_s02_upload.png"/>
          <p:cNvPicPr>
            <a:picLocks noChangeAspect="1"/>
          </p:cNvPicPr>
          <p:nvPr/>
        </p:nvPicPr>
        <p:blipFill>
          <a:blip r:embed="rId7"/>
          <a:stretch>
            <a:fillRect/>
          </a:stretch>
        </p:blipFill>
        <p:spPr>
          <a:xfrm>
            <a:off x="292608" y="804672"/>
            <a:ext cx="2743200" cy="1828800"/>
          </a:xfrm>
          <a:prstGeom prst="rect">
            <a:avLst/>
          </a:prstGeom>
          <a:ln w="9525">
            <a:solidFill>
              <a:srgbClr val="D8B5AB"/>
            </a:solidFill>
          </a:ln>
        </p:spPr>
      </p:pic>
      <p:sp>
        <p:nvSpPr>
          <p:cNvPr id="6" name="TextBox 5"/>
          <p:cNvSpPr txBox="1"/>
          <p:nvPr/>
        </p:nvSpPr>
        <p:spPr>
          <a:xfrm>
            <a:off x="292608" y="2670048"/>
            <a:ext cx="2743200" cy="219456"/>
          </a:xfrm>
          <a:prstGeom prst="rect">
            <a:avLst/>
          </a:prstGeom>
          <a:noFill/>
        </p:spPr>
        <p:txBody>
          <a:bodyPr wrap="square" lIns="0" rIns="0" tIns="0" bIns="0" anchor="t">
            <a:spAutoFit/>
          </a:bodyPr>
          <a:lstStyle/>
          <a:p>
            <a:pPr algn="ctr"/>
            <a:r>
              <a:rPr sz="1000" b="0" i="1">
                <a:solidFill>
                  <a:srgbClr val="595959"/>
                </a:solidFill>
                <a:latin typeface="Times New Roman"/>
              </a:rPr>
              <a:t>1. Choose scan type and upload</a:t>
            </a:r>
          </a:p>
        </p:txBody>
      </p:sp>
      <p:pic>
        <p:nvPicPr>
          <p:cNvPr id="7" name="Picture 6" descr="c_s04_xray_result.png"/>
          <p:cNvPicPr>
            <a:picLocks noChangeAspect="1"/>
          </p:cNvPicPr>
          <p:nvPr/>
        </p:nvPicPr>
        <p:blipFill>
          <a:blip r:embed="rId8"/>
          <a:stretch>
            <a:fillRect/>
          </a:stretch>
        </p:blipFill>
        <p:spPr>
          <a:xfrm>
            <a:off x="3200400" y="804672"/>
            <a:ext cx="2743200" cy="1828800"/>
          </a:xfrm>
          <a:prstGeom prst="rect">
            <a:avLst/>
          </a:prstGeom>
          <a:ln w="9525">
            <a:solidFill>
              <a:srgbClr val="D8B5AB"/>
            </a:solidFill>
          </a:ln>
        </p:spPr>
      </p:pic>
      <p:sp>
        <p:nvSpPr>
          <p:cNvPr id="8" name="TextBox 7"/>
          <p:cNvSpPr txBox="1"/>
          <p:nvPr/>
        </p:nvSpPr>
        <p:spPr>
          <a:xfrm>
            <a:off x="3200400" y="2670048"/>
            <a:ext cx="2743200" cy="219456"/>
          </a:xfrm>
          <a:prstGeom prst="rect">
            <a:avLst/>
          </a:prstGeom>
          <a:noFill/>
        </p:spPr>
        <p:txBody>
          <a:bodyPr wrap="square" lIns="0" rIns="0" tIns="0" bIns="0" anchor="t">
            <a:spAutoFit/>
          </a:bodyPr>
          <a:lstStyle/>
          <a:p>
            <a:pPr algn="ctr"/>
            <a:r>
              <a:rPr sz="1000" b="0" i="1">
                <a:solidFill>
                  <a:srgbClr val="595959"/>
                </a:solidFill>
                <a:latin typeface="Times New Roman"/>
              </a:rPr>
              <a:t>2. Class, heatmap and explanation</a:t>
            </a:r>
          </a:p>
        </p:txBody>
      </p:sp>
      <p:pic>
        <p:nvPicPr>
          <p:cNvPr id="9" name="Picture 8" descr="c_s07_rejected.png"/>
          <p:cNvPicPr>
            <a:picLocks noChangeAspect="1"/>
          </p:cNvPicPr>
          <p:nvPr/>
        </p:nvPicPr>
        <p:blipFill>
          <a:blip r:embed="rId9"/>
          <a:stretch>
            <a:fillRect/>
          </a:stretch>
        </p:blipFill>
        <p:spPr>
          <a:xfrm>
            <a:off x="6108192" y="804672"/>
            <a:ext cx="2743200" cy="1828800"/>
          </a:xfrm>
          <a:prstGeom prst="rect">
            <a:avLst/>
          </a:prstGeom>
          <a:ln w="9525">
            <a:solidFill>
              <a:srgbClr val="D8B5AB"/>
            </a:solidFill>
          </a:ln>
        </p:spPr>
      </p:pic>
      <p:sp>
        <p:nvSpPr>
          <p:cNvPr id="10" name="TextBox 9"/>
          <p:cNvSpPr txBox="1"/>
          <p:nvPr/>
        </p:nvSpPr>
        <p:spPr>
          <a:xfrm>
            <a:off x="6108192" y="2670048"/>
            <a:ext cx="2743200" cy="219456"/>
          </a:xfrm>
          <a:prstGeom prst="rect">
            <a:avLst/>
          </a:prstGeom>
          <a:noFill/>
        </p:spPr>
        <p:txBody>
          <a:bodyPr wrap="square" lIns="0" rIns="0" tIns="0" bIns="0" anchor="t">
            <a:spAutoFit/>
          </a:bodyPr>
          <a:lstStyle/>
          <a:p>
            <a:pPr algn="ctr"/>
            <a:r>
              <a:rPr sz="1000" b="0" i="1">
                <a:solidFill>
                  <a:srgbClr val="595959"/>
                </a:solidFill>
                <a:latin typeface="Times New Roman"/>
              </a:rPr>
              <a:t>3. Wrong scan type is refused</a:t>
            </a:r>
          </a:p>
        </p:txBody>
      </p:sp>
      <p:sp>
        <p:nvSpPr>
          <p:cNvPr id="11" name="Rounded Rectangle 10"/>
          <p:cNvSpPr/>
          <p:nvPr/>
        </p:nvSpPr>
        <p:spPr>
          <a:xfrm>
            <a:off x="292608" y="3035808"/>
            <a:ext cx="2734056" cy="173736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3108960"/>
            <a:ext cx="2514600" cy="274320"/>
          </a:xfrm>
          <a:prstGeom prst="rect">
            <a:avLst/>
          </a:prstGeom>
          <a:noFill/>
        </p:spPr>
        <p:txBody>
          <a:bodyPr wrap="square" lIns="0" rIns="0" tIns="0" bIns="0" anchor="t">
            <a:spAutoFit/>
          </a:bodyPr>
          <a:lstStyle/>
          <a:p>
            <a:pPr algn="l"/>
            <a:r>
              <a:rPr sz="1250" b="1" i="0">
                <a:solidFill>
                  <a:srgbClr val="7B2D1E"/>
                </a:solidFill>
                <a:latin typeface="Times New Roman"/>
              </a:rPr>
              <a:t>Modules built &amp; integrated</a:t>
            </a:r>
          </a:p>
        </p:txBody>
      </p:sp>
      <p:sp>
        <p:nvSpPr>
          <p:cNvPr id="13" name="TextBox 12"/>
          <p:cNvSpPr txBox="1"/>
          <p:nvPr/>
        </p:nvSpPr>
        <p:spPr>
          <a:xfrm>
            <a:off x="402336" y="3419856"/>
            <a:ext cx="2514600" cy="1280160"/>
          </a:xfrm>
          <a:prstGeom prst="rect">
            <a:avLst/>
          </a:prstGeom>
          <a:noFill/>
        </p:spPr>
        <p:txBody>
          <a:bodyPr wrap="square" lIns="0" rIns="0" tIns="0" bIns="0" anchor="t">
            <a:spAutoFit/>
          </a:bodyPr>
          <a:lstStyle/>
          <a:p>
            <a:pPr algn="l" marL="146304" indent="-146304">
              <a:spcAft>
                <a:spcPts val="300"/>
              </a:spcAft>
              <a:buChar char="•"/>
            </a:pPr>
            <a:r>
              <a:rPr sz="1100" b="0" i="0">
                <a:solidFill>
                  <a:srgbClr val="000000"/>
                </a:solidFill>
                <a:latin typeface="Times New Roman"/>
              </a:rPr>
              <a:t>All 12 designed modules work end to end (rubric asks 50–60%)</a:t>
            </a:r>
          </a:p>
          <a:p>
            <a:pPr algn="l" marL="146304" indent="-146304">
              <a:spcAft>
                <a:spcPts val="300"/>
              </a:spcAft>
              <a:buChar char="•"/>
            </a:pPr>
            <a:r>
              <a:rPr sz="1100" b="0" i="0">
                <a:solidFill>
                  <a:srgbClr val="000000"/>
                </a:solidFill>
                <a:latin typeface="Times New Roman"/>
              </a:rPr>
              <a:t>OOP model classes, procedural API routes</a:t>
            </a:r>
          </a:p>
          <a:p>
            <a:pPr algn="l" marL="146304" indent="-146304">
              <a:spcAft>
                <a:spcPts val="300"/>
              </a:spcAft>
              <a:buChar char="•"/>
            </a:pPr>
            <a:r>
              <a:rPr sz="1100" b="0" i="0">
                <a:solidFill>
                  <a:srgbClr val="000000"/>
                </a:solidFill>
                <a:latin typeface="Times New Roman"/>
              </a:rPr>
              <a:t>PEP 8 names, docstrings, type hints</a:t>
            </a:r>
          </a:p>
        </p:txBody>
      </p:sp>
      <p:sp>
        <p:nvSpPr>
          <p:cNvPr id="14" name="Rounded Rectangle 13"/>
          <p:cNvSpPr/>
          <p:nvPr/>
        </p:nvSpPr>
        <p:spPr>
          <a:xfrm>
            <a:off x="3204972" y="3035808"/>
            <a:ext cx="2734056" cy="173736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4700" y="3108960"/>
            <a:ext cx="2514600" cy="274320"/>
          </a:xfrm>
          <a:prstGeom prst="rect">
            <a:avLst/>
          </a:prstGeom>
          <a:noFill/>
        </p:spPr>
        <p:txBody>
          <a:bodyPr wrap="square" lIns="0" rIns="0" tIns="0" bIns="0" anchor="t">
            <a:spAutoFit/>
          </a:bodyPr>
          <a:lstStyle/>
          <a:p>
            <a:pPr algn="l"/>
            <a:r>
              <a:rPr sz="1250" b="1" i="0">
                <a:solidFill>
                  <a:srgbClr val="7B2D1E"/>
                </a:solidFill>
                <a:latin typeface="Times New Roman"/>
              </a:rPr>
              <a:t>Module testing</a:t>
            </a:r>
          </a:p>
        </p:txBody>
      </p:sp>
      <p:sp>
        <p:nvSpPr>
          <p:cNvPr id="16" name="TextBox 15"/>
          <p:cNvSpPr txBox="1"/>
          <p:nvPr/>
        </p:nvSpPr>
        <p:spPr>
          <a:xfrm>
            <a:off x="3314700" y="3419856"/>
            <a:ext cx="2514600" cy="1280160"/>
          </a:xfrm>
          <a:prstGeom prst="rect">
            <a:avLst/>
          </a:prstGeom>
          <a:noFill/>
        </p:spPr>
        <p:txBody>
          <a:bodyPr wrap="square" lIns="0" rIns="0" tIns="0" bIns="0" anchor="t">
            <a:spAutoFit/>
          </a:bodyPr>
          <a:lstStyle/>
          <a:p>
            <a:pPr algn="l" marL="146304" indent="-146304">
              <a:spcAft>
                <a:spcPts val="300"/>
              </a:spcAft>
              <a:buChar char="•"/>
            </a:pPr>
            <a:r>
              <a:rPr sz="1100" b="0" i="0">
                <a:solidFill>
                  <a:srgbClr val="000000"/>
                </a:solidFill>
                <a:latin typeface="Times New Roman"/>
              </a:rPr>
              <a:t>pytest + httpx: 59 automated unit and API tests</a:t>
            </a:r>
          </a:p>
          <a:p>
            <a:pPr algn="l" marL="146304" indent="-146304">
              <a:spcAft>
                <a:spcPts val="300"/>
              </a:spcAft>
              <a:buChar char="•"/>
            </a:pPr>
            <a:r>
              <a:rPr sz="1100" b="0" i="0">
                <a:solidFill>
                  <a:srgbClr val="000000"/>
                </a:solidFill>
                <a:latin typeface="Times New Roman"/>
              </a:rPr>
              <a:t>Guardrail tests: photos, wrong scan type, blank, corrupt</a:t>
            </a:r>
          </a:p>
          <a:p>
            <a:pPr algn="l" marL="146304" indent="-146304">
              <a:spcAft>
                <a:spcPts val="300"/>
              </a:spcAft>
              <a:buChar char="•"/>
            </a:pPr>
            <a:r>
              <a:rPr sz="1100" b="0" i="0">
                <a:solidFill>
                  <a:srgbClr val="000000"/>
                </a:solidFill>
                <a:latin typeface="Times New Roman"/>
              </a:rPr>
              <a:t>183-image live end-to-end run; concurrency test</a:t>
            </a:r>
          </a:p>
        </p:txBody>
      </p:sp>
      <p:sp>
        <p:nvSpPr>
          <p:cNvPr id="17" name="Rounded Rectangle 16"/>
          <p:cNvSpPr/>
          <p:nvPr/>
        </p:nvSpPr>
        <p:spPr>
          <a:xfrm>
            <a:off x="6117336" y="3035808"/>
            <a:ext cx="2734056" cy="1737360"/>
          </a:xfrm>
          <a:prstGeom prst="roundRect">
            <a:avLst>
              <a:gd name="adj" fmla="val 6000"/>
            </a:avLst>
          </a:prstGeom>
          <a:solidFill>
            <a:srgbClr val="FBF4F2"/>
          </a:solidFill>
          <a:ln w="9525">
            <a:solidFill>
              <a:srgbClr val="D8B5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7064" y="3108960"/>
            <a:ext cx="2514600" cy="274320"/>
          </a:xfrm>
          <a:prstGeom prst="rect">
            <a:avLst/>
          </a:prstGeom>
          <a:noFill/>
        </p:spPr>
        <p:txBody>
          <a:bodyPr wrap="square" lIns="0" rIns="0" tIns="0" bIns="0" anchor="t">
            <a:spAutoFit/>
          </a:bodyPr>
          <a:lstStyle/>
          <a:p>
            <a:pPr algn="l"/>
            <a:r>
              <a:rPr sz="1250" b="1" i="0">
                <a:solidFill>
                  <a:srgbClr val="7B2D1E"/>
                </a:solidFill>
                <a:latin typeface="Times New Roman"/>
              </a:rPr>
              <a:t>Tools used</a:t>
            </a:r>
          </a:p>
        </p:txBody>
      </p:sp>
      <p:sp>
        <p:nvSpPr>
          <p:cNvPr id="19" name="TextBox 18"/>
          <p:cNvSpPr txBox="1"/>
          <p:nvPr/>
        </p:nvSpPr>
        <p:spPr>
          <a:xfrm>
            <a:off x="6227064" y="3419856"/>
            <a:ext cx="2514600" cy="1280160"/>
          </a:xfrm>
          <a:prstGeom prst="rect">
            <a:avLst/>
          </a:prstGeom>
          <a:noFill/>
        </p:spPr>
        <p:txBody>
          <a:bodyPr wrap="square" lIns="0" rIns="0" tIns="0" bIns="0" anchor="t">
            <a:spAutoFit/>
          </a:bodyPr>
          <a:lstStyle/>
          <a:p>
            <a:pPr algn="l" marL="146304" indent="-146304">
              <a:spcAft>
                <a:spcPts val="300"/>
              </a:spcAft>
              <a:buChar char="•"/>
            </a:pPr>
            <a:r>
              <a:rPr sz="1100" b="0" i="0">
                <a:solidFill>
                  <a:srgbClr val="000000"/>
                </a:solidFill>
                <a:latin typeface="Times New Roman"/>
              </a:rPr>
              <a:t>UML: PlantUML</a:t>
            </a:r>
          </a:p>
          <a:p>
            <a:pPr algn="l" marL="146304" indent="-146304">
              <a:spcAft>
                <a:spcPts val="300"/>
              </a:spcAft>
              <a:buChar char="•"/>
            </a:pPr>
            <a:r>
              <a:rPr sz="1100" b="0" i="0">
                <a:solidFill>
                  <a:srgbClr val="000000"/>
                </a:solidFill>
                <a:latin typeface="Times New Roman"/>
              </a:rPr>
              <a:t>Report: LaTeX (Overleaf)</a:t>
            </a:r>
          </a:p>
          <a:p>
            <a:pPr algn="l" marL="146304" indent="-146304">
              <a:spcAft>
                <a:spcPts val="300"/>
              </a:spcAft>
              <a:buChar char="•"/>
            </a:pPr>
            <a:r>
              <a:rPr sz="1100" b="0" i="0">
                <a:solidFill>
                  <a:srgbClr val="000000"/>
                </a:solidFill>
                <a:latin typeface="Times New Roman"/>
              </a:rPr>
              <a:t>IDE and version control: VS Code, Git</a:t>
            </a:r>
          </a:p>
          <a:p>
            <a:pPr algn="l" marL="146304" indent="-146304">
              <a:spcAft>
                <a:spcPts val="300"/>
              </a:spcAft>
              <a:buChar char="•"/>
            </a:pPr>
            <a:r>
              <a:rPr sz="1100" b="0" i="0">
                <a:solidFill>
                  <a:srgbClr val="000000"/>
                </a:solidFill>
                <a:latin typeface="Times New Roman"/>
              </a:rPr>
              <a:t>Training: PyTorch on Google Colab</a:t>
            </a:r>
          </a:p>
          <a:p>
            <a:pPr algn="l" marL="146304" indent="-146304">
              <a:spcAft>
                <a:spcPts val="300"/>
              </a:spcAft>
              <a:buChar char="•"/>
            </a:pPr>
            <a:r>
              <a:rPr sz="1100" b="0" i="0">
                <a:solidFill>
                  <a:srgbClr val="000000"/>
                </a:solidFill>
                <a:latin typeface="Times New Roman"/>
              </a:rPr>
              <a:t>Testing: pytest, httpx, Playwright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img/logo.png">    </p:cNvPr>
          <p:cNvPicPr>
            <a:picLocks noChangeAspect="1"/>
          </p:cNvPicPr>
          <p:nvPr/>
        </p:nvPicPr>
        <p:blipFill>
          <a:blip r:embed="rId1"/>
          <a:stretch>
            <a:fillRect/>
          </a:stretch>
        </p:blipFill>
        <p:spPr>
          <a:xfrm>
            <a:off x="6903720" y="182880"/>
            <a:ext cx="1874520" cy="446227"/>
          </a:xfrm>
          <a:prstGeom prst="rect">
            <a:avLst/>
          </a:prstGeom>
        </p:spPr>
      </p:pic>
      <p:sp>
        <p:nvSpPr>
          <p:cNvPr id="3" name="Shape 0"/>
          <p:cNvSpPr/>
          <p:nvPr/>
        </p:nvSpPr>
        <p:spPr>
          <a:xfrm>
            <a:off x="292608" y="786384"/>
            <a:ext cx="8558784" cy="0"/>
          </a:xfrm>
          <a:prstGeom prst="line">
            <a:avLst/>
          </a:prstGeom>
          <a:noFill/>
          <a:ln w="12700">
            <a:solidFill>
              <a:srgbClr val="C00000"/>
            </a:solidFill>
            <a:prstDash val="solid"/>
          </a:ln>
        </p:spPr>
        <p:txBody>
          <a:bodyPr/>
          <a:p/>
        </p:txBody>
      </p:sp>
      <p:sp>
        <p:nvSpPr>
          <p:cNvPr id="4" name="Text 1"/>
          <p:cNvSpPr txBox="1"/>
          <p:nvPr/>
        </p:nvSpPr>
        <p:spPr>
          <a:xfrm>
            <a:off x="548640" y="1554480"/>
            <a:ext cx="8046720" cy="731520"/>
          </a:xfrm>
          <a:prstGeom prst="rect">
            <a:avLst/>
          </a:prstGeom>
          <a:noFill/>
          <a:ln/>
        </p:spPr>
        <p:txBody>
          <a:bodyPr wrap="square" lIns="0" tIns="0" rIns="0" bIns="0" rtlCol="0" anchor="ctr"/>
          <a:lstStyle/>
          <a:p>
            <a:pPr indent="0" marL="0">
              <a:buNone/>
            </a:pPr>
            <a:r>
              <a:rPr lang="en-US" sz="3400" b="1" dirty="0">
                <a:solidFill>
                  <a:srgbClr val="C00000"/>
                </a:solidFill>
                <a:latin typeface="Garamond" pitchFamily="34" charset="0"/>
                <a:ea typeface="Garamond" pitchFamily="34" charset="-122"/>
                <a:cs typeface="Garamond" pitchFamily="34" charset="-120"/>
              </a:rPr>
              <a:t>Thank You</a:t>
            </a:r>
            <a:endParaRPr lang="en-US" sz="3400" dirty="0"/>
          </a:p>
        </p:txBody>
      </p:sp>
      <p:sp>
        <p:nvSpPr>
          <p:cNvPr id="5" name="Text 2"/>
          <p:cNvSpPr txBox="1"/>
          <p:nvPr/>
        </p:nvSpPr>
        <p:spPr>
          <a:xfrm>
            <a:off x="548640" y="2286000"/>
            <a:ext cx="8046720" cy="365760"/>
          </a:xfrm>
          <a:prstGeom prst="rect">
            <a:avLst/>
          </a:prstGeom>
          <a:noFill/>
          <a:ln/>
        </p:spPr>
        <p:txBody>
          <a:bodyPr wrap="square" lIns="0" tIns="0" rIns="0" bIns="0" rtlCol="0" anchor="ctr"/>
          <a:lstStyle/>
          <a:p>
            <a:pPr indent="0" marL="0">
              <a:buNone/>
            </a:pPr>
            <a:r>
              <a:rPr lang="en-US" sz="1500" dirty="0">
                <a:solidFill>
                  <a:srgbClr val="000000"/>
                </a:solidFill>
                <a:latin typeface="Garamond" pitchFamily="34" charset="0"/>
                <a:ea typeface="Garamond" pitchFamily="34" charset="-122"/>
                <a:cs typeface="Garamond" pitchFamily="34" charset="-120"/>
              </a:rPr>
              <a:t>AI-Powered Lung Disease Detection System</a:t>
            </a:r>
            <a:endParaRPr lang="en-US" sz="1500" dirty="0"/>
          </a:p>
        </p:txBody>
      </p:sp>
      <p:sp>
        <p:nvSpPr>
          <p:cNvPr id="6" name="Text 3"/>
          <p:cNvSpPr txBox="1"/>
          <p:nvPr/>
        </p:nvSpPr>
        <p:spPr>
          <a:xfrm>
            <a:off x="548640" y="3931920"/>
            <a:ext cx="8046720" cy="274320"/>
          </a:xfrm>
          <a:prstGeom prst="rect">
            <a:avLst/>
          </a:prstGeom>
          <a:noFill/>
          <a:ln/>
        </p:spPr>
        <p:txBody>
          <a:bodyPr wrap="square" lIns="0" tIns="0" rIns="0" bIns="0" rtlCol="0" anchor="ctr"/>
          <a:lstStyle/>
          <a:p>
            <a:pPr algn="r" indent="0" marL="0">
              <a:buNone/>
            </a:pPr>
            <a:r>
              <a:rPr lang="en-US" sz="1100" dirty="0">
                <a:solidFill>
                  <a:srgbClr val="000000"/>
                </a:solidFill>
                <a:latin typeface="Garamond" pitchFamily="34" charset="0"/>
                <a:ea typeface="Garamond" pitchFamily="34" charset="-122"/>
                <a:cs typeface="Garamond" pitchFamily="34" charset="-120"/>
              </a:rPr>
              <a:t>Under the guidance of </a:t>
            </a:r>
            <a:pPr algn="r" indent="0" marL="0">
              <a:buNone/>
            </a:pPr>
            <a:r>
              <a:rPr lang="en-US" sz="1100" b="1" dirty="0">
                <a:solidFill>
                  <a:srgbClr val="000000"/>
                </a:solidFill>
                <a:latin typeface="Garamond" pitchFamily="34" charset="0"/>
                <a:ea typeface="Garamond" pitchFamily="34" charset="-122"/>
                <a:cs typeface="Garamond" pitchFamily="34" charset="-120"/>
              </a:rPr>
              <a:t>: Prof. Indira Bidari</a:t>
            </a:r>
            <a:pPr algn="r" indent="0" marL="0">
              <a:buNone/>
            </a:pPr>
            <a:r>
              <a:rPr lang="en-US" sz="1100" dirty="0">
                <a:solidFill>
                  <a:srgbClr val="000000"/>
                </a:solidFill>
                <a:latin typeface="Garamond" pitchFamily="34" charset="0"/>
                <a:ea typeface="Garamond" pitchFamily="34" charset="-122"/>
                <a:cs typeface="Garamond" pitchFamily="34" charset="-120"/>
              </a:rPr>
              <a:t>   ·   Assistant Professor</a:t>
            </a:r>
            <a:endParaRPr lang="en-US" sz="1100" dirty="0"/>
          </a:p>
        </p:txBody>
      </p:sp>
      <p:sp>
        <p:nvSpPr>
          <p:cNvPr id="7" name="Text 4"/>
          <p:cNvSpPr txBox="1"/>
          <p:nvPr/>
        </p:nvSpPr>
        <p:spPr>
          <a:xfrm>
            <a:off x="548640" y="4251960"/>
            <a:ext cx="8046720" cy="274320"/>
          </a:xfrm>
          <a:prstGeom prst="rect">
            <a:avLst/>
          </a:prstGeom>
          <a:noFill/>
          <a:ln/>
        </p:spPr>
        <p:txBody>
          <a:bodyPr wrap="square" lIns="0" tIns="0" rIns="0" bIns="0" rtlCol="0" anchor="ctr"/>
          <a:lstStyle/>
          <a:p>
            <a:pPr algn="r" indent="0" marL="0">
              <a:buNone/>
            </a:pPr>
            <a:r>
              <a:rPr lang="en-US" sz="1050" dirty="0">
                <a:solidFill>
                  <a:srgbClr val="000000"/>
                </a:solidFill>
                <a:latin typeface="Garamond" pitchFamily="34" charset="0"/>
                <a:ea typeface="Garamond" pitchFamily="34" charset="-122"/>
                <a:cs typeface="Garamond" pitchFamily="34" charset="-120"/>
              </a:rPr>
              <a:t>Sharan Pachapuri, Sampad Gaonkar, Vijet Nayak  ·  B.E. CSE, 7th Semester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Lung Disease Detection System — Final Review</dc:title>
  <dc:subject>PptxGenJS Presentation</dc:subject>
  <dc:creator>PptxGenJS</dc:creator>
  <cp:lastModifiedBy>PptxGenJS</cp:lastModifiedBy>
  <cp:revision>1</cp:revision>
  <dcterms:created xsi:type="dcterms:W3CDTF">2026-09-24T15:37:14Z</dcterms:created>
  <dcterms:modified xsi:type="dcterms:W3CDTF">2026-09-24T15:37:14Z</dcterms:modified>
</cp:coreProperties>
</file>